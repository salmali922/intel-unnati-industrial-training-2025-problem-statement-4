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50" b="1" i="0">
                <a:solidFill>
                  <a:srgbClr val="040D9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rgbClr val="040D9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550" b="1" i="0">
                <a:solidFill>
                  <a:srgbClr val="040D9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rgbClr val="040D9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550" b="1" i="0">
                <a:solidFill>
                  <a:srgbClr val="040D9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550" b="1" i="0">
                <a:solidFill>
                  <a:srgbClr val="040D9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2318385" cy="2339340"/>
          </a:xfrm>
          <a:custGeom>
            <a:avLst/>
            <a:gdLst/>
            <a:ahLst/>
            <a:cxnLst/>
            <a:rect l="l" t="t" r="r" b="b"/>
            <a:pathLst>
              <a:path w="2318385" h="2339340">
                <a:moveTo>
                  <a:pt x="174890" y="2339077"/>
                </a:moveTo>
                <a:lnTo>
                  <a:pt x="0" y="2148213"/>
                </a:lnTo>
                <a:lnTo>
                  <a:pt x="0" y="0"/>
                </a:lnTo>
                <a:lnTo>
                  <a:pt x="2318069" y="0"/>
                </a:lnTo>
                <a:lnTo>
                  <a:pt x="174890" y="2339077"/>
                </a:lnTo>
                <a:close/>
              </a:path>
            </a:pathLst>
          </a:custGeom>
          <a:solidFill>
            <a:srgbClr val="005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258018"/>
            <a:ext cx="1023619" cy="2075180"/>
          </a:xfrm>
          <a:custGeom>
            <a:avLst/>
            <a:gdLst/>
            <a:ahLst/>
            <a:cxnLst/>
            <a:rect l="l" t="t" r="r" b="b"/>
            <a:pathLst>
              <a:path w="1023619" h="2075180">
                <a:moveTo>
                  <a:pt x="169329" y="2074642"/>
                </a:moveTo>
                <a:lnTo>
                  <a:pt x="0" y="1889881"/>
                </a:lnTo>
                <a:lnTo>
                  <a:pt x="0" y="0"/>
                </a:lnTo>
                <a:lnTo>
                  <a:pt x="1023514" y="1142182"/>
                </a:lnTo>
                <a:lnTo>
                  <a:pt x="169329" y="2074642"/>
                </a:lnTo>
                <a:close/>
              </a:path>
            </a:pathLst>
          </a:custGeom>
          <a:solidFill>
            <a:srgbClr val="040D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0"/>
            <a:ext cx="2952115" cy="3221990"/>
          </a:xfrm>
          <a:custGeom>
            <a:avLst/>
            <a:gdLst/>
            <a:ahLst/>
            <a:cxnLst/>
            <a:rect l="l" t="t" r="r" b="b"/>
            <a:pathLst>
              <a:path w="2952115" h="3221990">
                <a:moveTo>
                  <a:pt x="0" y="3221401"/>
                </a:moveTo>
                <a:lnTo>
                  <a:pt x="0" y="2517898"/>
                </a:lnTo>
                <a:lnTo>
                  <a:pt x="2315229" y="0"/>
                </a:lnTo>
                <a:lnTo>
                  <a:pt x="2951556" y="0"/>
                </a:lnTo>
                <a:lnTo>
                  <a:pt x="0" y="3221401"/>
                </a:lnTo>
                <a:close/>
              </a:path>
            </a:pathLst>
          </a:custGeom>
          <a:solidFill>
            <a:srgbClr val="1DB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6088838" y="8077813"/>
            <a:ext cx="2199640" cy="2209800"/>
          </a:xfrm>
          <a:custGeom>
            <a:avLst/>
            <a:gdLst/>
            <a:ahLst/>
            <a:cxnLst/>
            <a:rect l="l" t="t" r="r" b="b"/>
            <a:pathLst>
              <a:path w="2199640" h="2209800">
                <a:moveTo>
                  <a:pt x="2024167" y="0"/>
                </a:moveTo>
                <a:lnTo>
                  <a:pt x="2199161" y="190976"/>
                </a:lnTo>
                <a:lnTo>
                  <a:pt x="2199161" y="2209186"/>
                </a:lnTo>
                <a:lnTo>
                  <a:pt x="0" y="2209186"/>
                </a:lnTo>
                <a:lnTo>
                  <a:pt x="2024167" y="0"/>
                </a:lnTo>
                <a:close/>
              </a:path>
            </a:pathLst>
          </a:custGeom>
          <a:solidFill>
            <a:srgbClr val="005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7264381" y="8084229"/>
            <a:ext cx="1023619" cy="2075180"/>
          </a:xfrm>
          <a:custGeom>
            <a:avLst/>
            <a:gdLst/>
            <a:ahLst/>
            <a:cxnLst/>
            <a:rect l="l" t="t" r="r" b="b"/>
            <a:pathLst>
              <a:path w="1023619" h="2075179">
                <a:moveTo>
                  <a:pt x="854184" y="0"/>
                </a:moveTo>
                <a:lnTo>
                  <a:pt x="1023617" y="184873"/>
                </a:lnTo>
                <a:lnTo>
                  <a:pt x="1023617" y="2074757"/>
                </a:lnTo>
                <a:lnTo>
                  <a:pt x="0" y="932459"/>
                </a:lnTo>
                <a:lnTo>
                  <a:pt x="854184" y="0"/>
                </a:lnTo>
                <a:close/>
              </a:path>
            </a:pathLst>
          </a:custGeom>
          <a:solidFill>
            <a:srgbClr val="040D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5455349" y="7195376"/>
            <a:ext cx="2832735" cy="3091815"/>
          </a:xfrm>
          <a:custGeom>
            <a:avLst/>
            <a:gdLst/>
            <a:ahLst/>
            <a:cxnLst/>
            <a:rect l="l" t="t" r="r" b="b"/>
            <a:pathLst>
              <a:path w="2832734" h="3091815">
                <a:moveTo>
                  <a:pt x="2832649" y="0"/>
                </a:moveTo>
                <a:lnTo>
                  <a:pt x="2832649" y="703503"/>
                </a:lnTo>
                <a:lnTo>
                  <a:pt x="636752" y="3091623"/>
                </a:lnTo>
                <a:lnTo>
                  <a:pt x="0" y="3091623"/>
                </a:lnTo>
                <a:lnTo>
                  <a:pt x="2832649" y="0"/>
                </a:lnTo>
                <a:close/>
              </a:path>
            </a:pathLst>
          </a:custGeom>
          <a:solidFill>
            <a:srgbClr val="1DB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5729340" y="0"/>
            <a:ext cx="2039620" cy="1616075"/>
          </a:xfrm>
          <a:custGeom>
            <a:avLst/>
            <a:gdLst/>
            <a:ahLst/>
            <a:cxnLst/>
            <a:rect l="l" t="t" r="r" b="b"/>
            <a:pathLst>
              <a:path w="2039619" h="1616075">
                <a:moveTo>
                  <a:pt x="1019691" y="1615869"/>
                </a:moveTo>
                <a:lnTo>
                  <a:pt x="0" y="1026881"/>
                </a:lnTo>
                <a:lnTo>
                  <a:pt x="0" y="0"/>
                </a:lnTo>
                <a:lnTo>
                  <a:pt x="2039382" y="0"/>
                </a:lnTo>
                <a:lnTo>
                  <a:pt x="2039382" y="1026881"/>
                </a:lnTo>
                <a:lnTo>
                  <a:pt x="1019691" y="1615869"/>
                </a:lnTo>
                <a:close/>
              </a:path>
            </a:pathLst>
          </a:custGeom>
          <a:solidFill>
            <a:srgbClr val="040D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6749865" y="1017718"/>
            <a:ext cx="1538605" cy="2356485"/>
          </a:xfrm>
          <a:custGeom>
            <a:avLst/>
            <a:gdLst/>
            <a:ahLst/>
            <a:cxnLst/>
            <a:rect l="l" t="t" r="r" b="b"/>
            <a:pathLst>
              <a:path w="1538605" h="2356485">
                <a:moveTo>
                  <a:pt x="1019691" y="2355952"/>
                </a:moveTo>
                <a:lnTo>
                  <a:pt x="0" y="1766964"/>
                </a:lnTo>
                <a:lnTo>
                  <a:pt x="0" y="588988"/>
                </a:lnTo>
                <a:lnTo>
                  <a:pt x="1019691" y="0"/>
                </a:lnTo>
                <a:lnTo>
                  <a:pt x="1538133" y="299459"/>
                </a:lnTo>
                <a:lnTo>
                  <a:pt x="1538133" y="2056492"/>
                </a:lnTo>
                <a:lnTo>
                  <a:pt x="1019691" y="2355952"/>
                </a:lnTo>
                <a:close/>
              </a:path>
            </a:pathLst>
          </a:custGeom>
          <a:solidFill>
            <a:srgbClr val="1DB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6745700" y="0"/>
            <a:ext cx="1542415" cy="2195830"/>
          </a:xfrm>
          <a:custGeom>
            <a:avLst/>
            <a:gdLst/>
            <a:ahLst/>
            <a:cxnLst/>
            <a:rect l="l" t="t" r="r" b="b"/>
            <a:pathLst>
              <a:path w="1542415" h="2195830">
                <a:moveTo>
                  <a:pt x="1019691" y="2195693"/>
                </a:moveTo>
                <a:lnTo>
                  <a:pt x="0" y="1606705"/>
                </a:lnTo>
                <a:lnTo>
                  <a:pt x="0" y="428728"/>
                </a:lnTo>
                <a:lnTo>
                  <a:pt x="742240" y="0"/>
                </a:lnTo>
                <a:lnTo>
                  <a:pt x="850403" y="0"/>
                </a:lnTo>
                <a:lnTo>
                  <a:pt x="53317" y="460386"/>
                </a:lnTo>
                <a:lnTo>
                  <a:pt x="53317" y="1575881"/>
                </a:lnTo>
                <a:lnTo>
                  <a:pt x="1019691" y="2134045"/>
                </a:lnTo>
                <a:lnTo>
                  <a:pt x="1126419" y="2134045"/>
                </a:lnTo>
                <a:lnTo>
                  <a:pt x="1019691" y="2195693"/>
                </a:lnTo>
                <a:close/>
              </a:path>
              <a:path w="1542415" h="2195830">
                <a:moveTo>
                  <a:pt x="1542299" y="204073"/>
                </a:moveTo>
                <a:lnTo>
                  <a:pt x="1188978" y="0"/>
                </a:lnTo>
                <a:lnTo>
                  <a:pt x="1297141" y="0"/>
                </a:lnTo>
                <a:lnTo>
                  <a:pt x="1542299" y="141606"/>
                </a:lnTo>
                <a:lnTo>
                  <a:pt x="1542299" y="204073"/>
                </a:lnTo>
                <a:close/>
              </a:path>
              <a:path w="1542415" h="2195830">
                <a:moveTo>
                  <a:pt x="1126419" y="2134045"/>
                </a:moveTo>
                <a:lnTo>
                  <a:pt x="1019691" y="2134045"/>
                </a:lnTo>
                <a:lnTo>
                  <a:pt x="1542299" y="1832194"/>
                </a:lnTo>
                <a:lnTo>
                  <a:pt x="1542299" y="1893827"/>
                </a:lnTo>
                <a:lnTo>
                  <a:pt x="1126419" y="21340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19266" y="8801020"/>
            <a:ext cx="2037080" cy="1486535"/>
          </a:xfrm>
          <a:custGeom>
            <a:avLst/>
            <a:gdLst/>
            <a:ahLst/>
            <a:cxnLst/>
            <a:rect l="l" t="t" r="r" b="b"/>
            <a:pathLst>
              <a:path w="2037080" h="1486534">
                <a:moveTo>
                  <a:pt x="1019690" y="0"/>
                </a:moveTo>
                <a:lnTo>
                  <a:pt x="2037000" y="587612"/>
                </a:lnTo>
                <a:lnTo>
                  <a:pt x="2037000" y="1485978"/>
                </a:lnTo>
                <a:lnTo>
                  <a:pt x="0" y="1485978"/>
                </a:lnTo>
                <a:lnTo>
                  <a:pt x="0" y="588988"/>
                </a:lnTo>
                <a:lnTo>
                  <a:pt x="1019690" y="0"/>
                </a:lnTo>
                <a:close/>
              </a:path>
            </a:pathLst>
          </a:custGeom>
          <a:solidFill>
            <a:srgbClr val="040D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0" y="7043220"/>
            <a:ext cx="1538605" cy="2356485"/>
          </a:xfrm>
          <a:custGeom>
            <a:avLst/>
            <a:gdLst/>
            <a:ahLst/>
            <a:cxnLst/>
            <a:rect l="l" t="t" r="r" b="b"/>
            <a:pathLst>
              <a:path w="1538605" h="2356484">
                <a:moveTo>
                  <a:pt x="518433" y="0"/>
                </a:moveTo>
                <a:lnTo>
                  <a:pt x="1538124" y="588988"/>
                </a:lnTo>
                <a:lnTo>
                  <a:pt x="1538124" y="1766964"/>
                </a:lnTo>
                <a:lnTo>
                  <a:pt x="518433" y="2355952"/>
                </a:lnTo>
                <a:lnTo>
                  <a:pt x="0" y="2056497"/>
                </a:lnTo>
                <a:lnTo>
                  <a:pt x="0" y="299454"/>
                </a:lnTo>
                <a:lnTo>
                  <a:pt x="518433" y="0"/>
                </a:lnTo>
                <a:close/>
              </a:path>
            </a:pathLst>
          </a:custGeom>
          <a:solidFill>
            <a:srgbClr val="1DB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0" y="8221196"/>
            <a:ext cx="1542415" cy="2066289"/>
          </a:xfrm>
          <a:custGeom>
            <a:avLst/>
            <a:gdLst/>
            <a:ahLst/>
            <a:cxnLst/>
            <a:rect l="l" t="t" r="r" b="b"/>
            <a:pathLst>
              <a:path w="1542415" h="2066290">
                <a:moveTo>
                  <a:pt x="522598" y="0"/>
                </a:moveTo>
                <a:lnTo>
                  <a:pt x="1542289" y="588988"/>
                </a:lnTo>
                <a:lnTo>
                  <a:pt x="1542289" y="1766964"/>
                </a:lnTo>
                <a:lnTo>
                  <a:pt x="1024922" y="2065803"/>
                </a:lnTo>
                <a:lnTo>
                  <a:pt x="916770" y="2065803"/>
                </a:lnTo>
                <a:lnTo>
                  <a:pt x="1488972" y="1735307"/>
                </a:lnTo>
                <a:lnTo>
                  <a:pt x="1488972" y="619812"/>
                </a:lnTo>
                <a:lnTo>
                  <a:pt x="522598" y="61648"/>
                </a:lnTo>
                <a:lnTo>
                  <a:pt x="415869" y="61648"/>
                </a:lnTo>
                <a:lnTo>
                  <a:pt x="522598" y="0"/>
                </a:lnTo>
                <a:close/>
              </a:path>
              <a:path w="1542415" h="2066290">
                <a:moveTo>
                  <a:pt x="0" y="1991625"/>
                </a:moveTo>
                <a:lnTo>
                  <a:pt x="128426" y="2065803"/>
                </a:lnTo>
                <a:lnTo>
                  <a:pt x="20275" y="2065803"/>
                </a:lnTo>
                <a:lnTo>
                  <a:pt x="0" y="2054092"/>
                </a:lnTo>
                <a:lnTo>
                  <a:pt x="0" y="1991625"/>
                </a:lnTo>
                <a:close/>
              </a:path>
              <a:path w="1542415" h="2066290">
                <a:moveTo>
                  <a:pt x="415869" y="61648"/>
                </a:moveTo>
                <a:lnTo>
                  <a:pt x="522598" y="61648"/>
                </a:lnTo>
                <a:lnTo>
                  <a:pt x="0" y="363493"/>
                </a:lnTo>
                <a:lnTo>
                  <a:pt x="0" y="301860"/>
                </a:lnTo>
                <a:lnTo>
                  <a:pt x="415869" y="61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86379" y="831141"/>
            <a:ext cx="14515465" cy="18961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50" b="1" i="0">
                <a:solidFill>
                  <a:srgbClr val="040D9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5957" y="2918823"/>
            <a:ext cx="13739494" cy="4834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rgbClr val="040D9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190389" y="6211481"/>
            <a:ext cx="67310" cy="47625"/>
          </a:xfrm>
          <a:custGeom>
            <a:avLst/>
            <a:gdLst/>
            <a:ahLst/>
            <a:cxnLst/>
            <a:rect l="l" t="t" r="r" b="b"/>
            <a:pathLst>
              <a:path w="67309" h="47625">
                <a:moveTo>
                  <a:pt x="67222" y="47624"/>
                </a:moveTo>
                <a:lnTo>
                  <a:pt x="0" y="47624"/>
                </a:lnTo>
                <a:lnTo>
                  <a:pt x="0" y="0"/>
                </a:lnTo>
                <a:lnTo>
                  <a:pt x="67222" y="0"/>
                </a:lnTo>
                <a:lnTo>
                  <a:pt x="67222" y="47624"/>
                </a:lnTo>
                <a:close/>
              </a:path>
            </a:pathLst>
          </a:custGeom>
          <a:solidFill>
            <a:srgbClr val="040D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886151" y="2726352"/>
            <a:ext cx="14749144" cy="5725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u="heavy" sz="3200" spc="-405" b="1" i="1">
                <a:solidFill>
                  <a:srgbClr val="040D9A"/>
                </a:solidFill>
                <a:uFill>
                  <a:solidFill>
                    <a:srgbClr val="040D9A"/>
                  </a:solidFill>
                </a:uFill>
                <a:latin typeface="Verdana"/>
                <a:cs typeface="Verdana"/>
              </a:rPr>
              <a:t>PROBLEM</a:t>
            </a:r>
            <a:r>
              <a:rPr dirty="0" u="heavy" sz="3200" spc="-335" b="1" i="1">
                <a:solidFill>
                  <a:srgbClr val="040D9A"/>
                </a:solidFill>
                <a:uFill>
                  <a:solidFill>
                    <a:srgbClr val="040D9A"/>
                  </a:solidFill>
                </a:uFill>
                <a:latin typeface="Verdana"/>
                <a:cs typeface="Verdana"/>
              </a:rPr>
              <a:t> </a:t>
            </a:r>
            <a:r>
              <a:rPr dirty="0" u="heavy" sz="3200" spc="-425" b="1" i="1">
                <a:solidFill>
                  <a:srgbClr val="040D9A"/>
                </a:solidFill>
                <a:uFill>
                  <a:solidFill>
                    <a:srgbClr val="040D9A"/>
                  </a:solidFill>
                </a:uFill>
                <a:latin typeface="Verdana"/>
                <a:cs typeface="Verdana"/>
              </a:rPr>
              <a:t>STATEMENT</a:t>
            </a:r>
            <a:r>
              <a:rPr dirty="0" u="heavy" sz="3200" b="1" i="1">
                <a:solidFill>
                  <a:srgbClr val="040D9A"/>
                </a:solidFill>
                <a:uFill>
                  <a:solidFill>
                    <a:srgbClr val="040D9A"/>
                  </a:solidFill>
                </a:uFill>
                <a:latin typeface="Verdana"/>
                <a:cs typeface="Verdana"/>
              </a:rPr>
              <a:t> 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3200">
              <a:latin typeface="Verdana"/>
              <a:cs typeface="Verdana"/>
            </a:endParaRPr>
          </a:p>
          <a:p>
            <a:pPr algn="ctr" marL="12700" marR="5080">
              <a:lnSpc>
                <a:spcPct val="115199"/>
              </a:lnSpc>
            </a:pPr>
            <a:r>
              <a:rPr dirty="0" sz="3200" spc="-295" b="1">
                <a:solidFill>
                  <a:srgbClr val="040D9A"/>
                </a:solidFill>
                <a:latin typeface="Verdana"/>
                <a:cs typeface="Verdana"/>
              </a:rPr>
              <a:t>CONVERTING</a:t>
            </a:r>
            <a:r>
              <a:rPr dirty="0" sz="3200" spc="-35" b="1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3200" spc="-305" b="1">
                <a:solidFill>
                  <a:srgbClr val="040D9A"/>
                </a:solidFill>
                <a:latin typeface="Verdana"/>
                <a:cs typeface="Verdana"/>
              </a:rPr>
              <a:t>ENTERPRISE</a:t>
            </a:r>
            <a:r>
              <a:rPr dirty="0" sz="3200" spc="-30" b="1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3200" spc="-305" b="1">
                <a:solidFill>
                  <a:srgbClr val="040D9A"/>
                </a:solidFill>
                <a:latin typeface="Verdana"/>
                <a:cs typeface="Verdana"/>
              </a:rPr>
              <a:t>PDFS</a:t>
            </a:r>
            <a:r>
              <a:rPr dirty="0" sz="3200" spc="-30" b="1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3200" spc="-335" b="1">
                <a:solidFill>
                  <a:srgbClr val="040D9A"/>
                </a:solidFill>
                <a:latin typeface="Verdana"/>
                <a:cs typeface="Verdana"/>
              </a:rPr>
              <a:t>INTO</a:t>
            </a:r>
            <a:r>
              <a:rPr dirty="0" sz="3200" spc="-35" b="1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3200" spc="-280" b="1">
                <a:solidFill>
                  <a:srgbClr val="040D9A"/>
                </a:solidFill>
                <a:latin typeface="Verdana"/>
                <a:cs typeface="Verdana"/>
              </a:rPr>
              <a:t>SEARCHABLE</a:t>
            </a:r>
            <a:r>
              <a:rPr dirty="0" sz="3200" spc="-30" b="1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3200" spc="-285" b="1">
                <a:solidFill>
                  <a:srgbClr val="040D9A"/>
                </a:solidFill>
                <a:latin typeface="Verdana"/>
                <a:cs typeface="Verdana"/>
              </a:rPr>
              <a:t>KNOWLEDGE</a:t>
            </a:r>
            <a:r>
              <a:rPr dirty="0" sz="3200" spc="-30" b="1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3200" spc="-365" b="1">
                <a:solidFill>
                  <a:srgbClr val="040D9A"/>
                </a:solidFill>
                <a:latin typeface="Verdana"/>
                <a:cs typeface="Verdana"/>
              </a:rPr>
              <a:t>USING </a:t>
            </a:r>
            <a:r>
              <a:rPr dirty="0" sz="3200" spc="-229" b="1">
                <a:solidFill>
                  <a:srgbClr val="040D9A"/>
                </a:solidFill>
                <a:latin typeface="Verdana"/>
                <a:cs typeface="Verdana"/>
              </a:rPr>
              <a:t>RETRIEVAL-</a:t>
            </a:r>
            <a:r>
              <a:rPr dirty="0" sz="3200" spc="-240" b="1">
                <a:solidFill>
                  <a:srgbClr val="040D9A"/>
                </a:solidFill>
                <a:latin typeface="Verdana"/>
                <a:cs typeface="Verdana"/>
              </a:rPr>
              <a:t>AUGMENTED</a:t>
            </a:r>
            <a:r>
              <a:rPr dirty="0" sz="3200" spc="60" b="1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3200" spc="-300" b="1">
                <a:solidFill>
                  <a:srgbClr val="040D9A"/>
                </a:solidFill>
                <a:latin typeface="Verdana"/>
                <a:cs typeface="Verdana"/>
              </a:rPr>
              <a:t>GENERATION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3200">
              <a:latin typeface="Verdana"/>
              <a:cs typeface="Verdana"/>
            </a:endParaRPr>
          </a:p>
          <a:p>
            <a:pPr algn="ctr" marL="390525">
              <a:lnSpc>
                <a:spcPct val="100000"/>
              </a:lnSpc>
            </a:pPr>
            <a:r>
              <a:rPr dirty="0" u="heavy" sz="4450" spc="-125" b="1">
                <a:solidFill>
                  <a:srgbClr val="040D9A"/>
                </a:solidFill>
                <a:uFill>
                  <a:solidFill>
                    <a:srgbClr val="040D9A"/>
                  </a:solidFill>
                </a:uFill>
                <a:latin typeface="Tahoma"/>
                <a:cs typeface="Tahoma"/>
              </a:rPr>
              <a:t>Submitted</a:t>
            </a:r>
            <a:r>
              <a:rPr dirty="0" u="heavy" sz="4450" spc="-140" b="1">
                <a:solidFill>
                  <a:srgbClr val="040D9A"/>
                </a:solidFill>
                <a:uFill>
                  <a:solidFill>
                    <a:srgbClr val="040D9A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4450" spc="-25" b="1">
                <a:solidFill>
                  <a:srgbClr val="040D9A"/>
                </a:solidFill>
                <a:uFill>
                  <a:solidFill>
                    <a:srgbClr val="040D9A"/>
                  </a:solidFill>
                </a:uFill>
                <a:latin typeface="Tahoma"/>
                <a:cs typeface="Tahoma"/>
              </a:rPr>
              <a:t>by</a:t>
            </a:r>
            <a:endParaRPr sz="4450">
              <a:latin typeface="Tahoma"/>
              <a:cs typeface="Tahoma"/>
            </a:endParaRPr>
          </a:p>
          <a:p>
            <a:pPr algn="ctr" marL="2882900" marR="2484755" indent="-635">
              <a:lnSpc>
                <a:spcPts val="5630"/>
              </a:lnSpc>
              <a:spcBef>
                <a:spcPts val="105"/>
              </a:spcBef>
            </a:pPr>
            <a:r>
              <a:rPr dirty="0" sz="4050" spc="305">
                <a:solidFill>
                  <a:srgbClr val="040D9A"/>
                </a:solidFill>
                <a:latin typeface="Tahoma"/>
                <a:cs typeface="Tahoma"/>
              </a:rPr>
              <a:t>Salmali</a:t>
            </a:r>
            <a:r>
              <a:rPr dirty="0" sz="4050" spc="-229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4050" spc="235">
                <a:solidFill>
                  <a:srgbClr val="040D9A"/>
                </a:solidFill>
                <a:latin typeface="Tahoma"/>
                <a:cs typeface="Tahoma"/>
              </a:rPr>
              <a:t>Samanta(CSE-</a:t>
            </a:r>
            <a:r>
              <a:rPr dirty="0" sz="4050" spc="215">
                <a:solidFill>
                  <a:srgbClr val="040D9A"/>
                </a:solidFill>
                <a:latin typeface="Tahoma"/>
                <a:cs typeface="Tahoma"/>
              </a:rPr>
              <a:t>DS/22/34) </a:t>
            </a:r>
            <a:r>
              <a:rPr dirty="0" sz="4050" spc="229">
                <a:solidFill>
                  <a:srgbClr val="040D9A"/>
                </a:solidFill>
                <a:latin typeface="Tahoma"/>
                <a:cs typeface="Tahoma"/>
              </a:rPr>
              <a:t>Mayukh</a:t>
            </a:r>
            <a:r>
              <a:rPr dirty="0" sz="4050" spc="-23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4050" spc="204">
                <a:solidFill>
                  <a:srgbClr val="040D9A"/>
                </a:solidFill>
                <a:latin typeface="Tahoma"/>
                <a:cs typeface="Tahoma"/>
              </a:rPr>
              <a:t>Adhikari(CSE-</a:t>
            </a:r>
            <a:r>
              <a:rPr dirty="0" sz="4050" spc="215">
                <a:solidFill>
                  <a:srgbClr val="040D9A"/>
                </a:solidFill>
                <a:latin typeface="Tahoma"/>
                <a:cs typeface="Tahoma"/>
              </a:rPr>
              <a:t>DS/22/54) </a:t>
            </a:r>
            <a:r>
              <a:rPr dirty="0" sz="4050" spc="220">
                <a:solidFill>
                  <a:srgbClr val="040D9A"/>
                </a:solidFill>
                <a:latin typeface="Tahoma"/>
                <a:cs typeface="Tahoma"/>
              </a:rPr>
              <a:t>Rounak</a:t>
            </a:r>
            <a:r>
              <a:rPr dirty="0" sz="4050" spc="-23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4050" spc="229">
                <a:solidFill>
                  <a:srgbClr val="040D9A"/>
                </a:solidFill>
                <a:latin typeface="Tahoma"/>
                <a:cs typeface="Tahoma"/>
              </a:rPr>
              <a:t>Kumar</a:t>
            </a:r>
            <a:r>
              <a:rPr dirty="0" sz="4050" spc="-229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4050" spc="195">
                <a:solidFill>
                  <a:srgbClr val="040D9A"/>
                </a:solidFill>
                <a:latin typeface="Tahoma"/>
                <a:cs typeface="Tahoma"/>
              </a:rPr>
              <a:t>Singh((CSE-DS/22/12)</a:t>
            </a:r>
            <a:endParaRPr sz="40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91149" y="831141"/>
            <a:ext cx="10433685" cy="70675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heavy" sz="4450">
                <a:uFill>
                  <a:solidFill>
                    <a:srgbClr val="040D9A"/>
                  </a:solidFill>
                </a:uFill>
                <a:latin typeface="Tahoma"/>
                <a:cs typeface="Tahoma"/>
              </a:rPr>
              <a:t>Intel</a:t>
            </a:r>
            <a:r>
              <a:rPr dirty="0" u="heavy" sz="4450" spc="-180">
                <a:uFill>
                  <a:solidFill>
                    <a:srgbClr val="040D9A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4450" spc="-45">
                <a:uFill>
                  <a:solidFill>
                    <a:srgbClr val="040D9A"/>
                  </a:solidFill>
                </a:uFill>
                <a:latin typeface="Tahoma"/>
                <a:cs typeface="Tahoma"/>
              </a:rPr>
              <a:t>Unnati</a:t>
            </a:r>
            <a:r>
              <a:rPr dirty="0" u="heavy" sz="4450" spc="-180">
                <a:uFill>
                  <a:solidFill>
                    <a:srgbClr val="040D9A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4450" spc="-35">
                <a:uFill>
                  <a:solidFill>
                    <a:srgbClr val="040D9A"/>
                  </a:solidFill>
                </a:uFill>
                <a:latin typeface="Tahoma"/>
                <a:cs typeface="Tahoma"/>
              </a:rPr>
              <a:t>Industrial</a:t>
            </a:r>
            <a:r>
              <a:rPr dirty="0" u="heavy" sz="4450" spc="-180">
                <a:uFill>
                  <a:solidFill>
                    <a:srgbClr val="040D9A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4450" spc="-95">
                <a:uFill>
                  <a:solidFill>
                    <a:srgbClr val="040D9A"/>
                  </a:solidFill>
                </a:uFill>
                <a:latin typeface="Tahoma"/>
                <a:cs typeface="Tahoma"/>
              </a:rPr>
              <a:t>Training</a:t>
            </a:r>
            <a:r>
              <a:rPr dirty="0" u="heavy" sz="4450" spc="-170">
                <a:uFill>
                  <a:solidFill>
                    <a:srgbClr val="040D9A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4450" spc="229">
                <a:uFill>
                  <a:solidFill>
                    <a:srgbClr val="040D9A"/>
                  </a:solidFill>
                </a:uFill>
                <a:latin typeface="Tahoma"/>
                <a:cs typeface="Tahoma"/>
              </a:rPr>
              <a:t>2025</a:t>
            </a:r>
            <a:endParaRPr sz="4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7371" rIns="0" bIns="0" rtlCol="0" vert="horz">
            <a:spAutoFit/>
          </a:bodyPr>
          <a:lstStyle/>
          <a:p>
            <a:pPr marL="2574925">
              <a:lnSpc>
                <a:spcPct val="100000"/>
              </a:lnSpc>
              <a:spcBef>
                <a:spcPts val="100"/>
              </a:spcBef>
            </a:pPr>
            <a:r>
              <a:rPr dirty="0" spc="-925"/>
              <a:t>INTRODUCTION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939800">
              <a:lnSpc>
                <a:spcPct val="117700"/>
              </a:lnSpc>
              <a:spcBef>
                <a:spcPts val="95"/>
              </a:spcBef>
            </a:pPr>
            <a:r>
              <a:rPr dirty="0" sz="3350" spc="145"/>
              <a:t>Enterprises</a:t>
            </a:r>
            <a:r>
              <a:rPr dirty="0" sz="3350" spc="-185"/>
              <a:t> </a:t>
            </a:r>
            <a:r>
              <a:rPr dirty="0" sz="3350" spc="140"/>
              <a:t>store</a:t>
            </a:r>
            <a:r>
              <a:rPr dirty="0" sz="3350" spc="-180"/>
              <a:t> </a:t>
            </a:r>
            <a:r>
              <a:rPr dirty="0" sz="3350" spc="229"/>
              <a:t>critical</a:t>
            </a:r>
            <a:r>
              <a:rPr dirty="0" sz="3350" spc="-180"/>
              <a:t> </a:t>
            </a:r>
            <a:r>
              <a:rPr dirty="0" sz="3350" spc="165"/>
              <a:t>knowledge</a:t>
            </a:r>
            <a:r>
              <a:rPr dirty="0" sz="3350" spc="-180"/>
              <a:t> </a:t>
            </a:r>
            <a:r>
              <a:rPr dirty="0" sz="3350" spc="180"/>
              <a:t>in</a:t>
            </a:r>
            <a:r>
              <a:rPr dirty="0" sz="3350" spc="-180"/>
              <a:t> </a:t>
            </a:r>
            <a:r>
              <a:rPr dirty="0" sz="3350" spc="235"/>
              <a:t>PDF</a:t>
            </a:r>
            <a:r>
              <a:rPr dirty="0" sz="3350" spc="-185"/>
              <a:t> </a:t>
            </a:r>
            <a:r>
              <a:rPr dirty="0" sz="3350" spc="170"/>
              <a:t>documents</a:t>
            </a:r>
            <a:r>
              <a:rPr dirty="0" sz="3350" spc="-180"/>
              <a:t> </a:t>
            </a:r>
            <a:r>
              <a:rPr dirty="0" sz="3350" spc="170"/>
              <a:t>such</a:t>
            </a:r>
            <a:r>
              <a:rPr dirty="0" sz="3350" spc="-180"/>
              <a:t> </a:t>
            </a:r>
            <a:r>
              <a:rPr dirty="0" sz="3350" spc="114"/>
              <a:t>as </a:t>
            </a:r>
            <a:r>
              <a:rPr dirty="0" sz="3350" spc="175"/>
              <a:t>policies,</a:t>
            </a:r>
            <a:r>
              <a:rPr dirty="0" sz="3350" spc="-190"/>
              <a:t> </a:t>
            </a:r>
            <a:r>
              <a:rPr dirty="0" sz="3350" spc="170"/>
              <a:t>manuals,</a:t>
            </a:r>
            <a:r>
              <a:rPr dirty="0" sz="3350" spc="-185"/>
              <a:t> </a:t>
            </a:r>
            <a:r>
              <a:rPr dirty="0" sz="3350" spc="120"/>
              <a:t>reports,</a:t>
            </a:r>
            <a:r>
              <a:rPr dirty="0" sz="3350" spc="-185"/>
              <a:t> </a:t>
            </a:r>
            <a:r>
              <a:rPr dirty="0" sz="3350" spc="140"/>
              <a:t>and</a:t>
            </a:r>
            <a:r>
              <a:rPr dirty="0" sz="3350" spc="-185"/>
              <a:t> </a:t>
            </a:r>
            <a:r>
              <a:rPr dirty="0" sz="3350" spc="145"/>
              <a:t>research</a:t>
            </a:r>
            <a:r>
              <a:rPr dirty="0" sz="3350" spc="-185"/>
              <a:t> </a:t>
            </a:r>
            <a:r>
              <a:rPr dirty="0" sz="3350" spc="100"/>
              <a:t>papers.</a:t>
            </a:r>
            <a:endParaRPr sz="3350"/>
          </a:p>
          <a:p>
            <a:pPr marL="12700" marR="1651635">
              <a:lnSpc>
                <a:spcPct val="117700"/>
              </a:lnSpc>
            </a:pPr>
            <a:r>
              <a:rPr dirty="0" sz="3350" spc="240"/>
              <a:t>While</a:t>
            </a:r>
            <a:r>
              <a:rPr dirty="0" sz="3350" spc="-190"/>
              <a:t> </a:t>
            </a:r>
            <a:r>
              <a:rPr dirty="0" sz="3350" spc="204"/>
              <a:t>PDFs</a:t>
            </a:r>
            <a:r>
              <a:rPr dirty="0" sz="3350" spc="-185"/>
              <a:t> </a:t>
            </a:r>
            <a:r>
              <a:rPr dirty="0" sz="3350" spc="120"/>
              <a:t>preserve</a:t>
            </a:r>
            <a:r>
              <a:rPr dirty="0" sz="3350" spc="-185"/>
              <a:t> </a:t>
            </a:r>
            <a:r>
              <a:rPr dirty="0" sz="3350" spc="165"/>
              <a:t>formatting,</a:t>
            </a:r>
            <a:r>
              <a:rPr dirty="0" sz="3350" spc="-190"/>
              <a:t> </a:t>
            </a:r>
            <a:r>
              <a:rPr dirty="0" sz="3350" spc="175"/>
              <a:t>they</a:t>
            </a:r>
            <a:r>
              <a:rPr dirty="0" sz="3350" spc="-185"/>
              <a:t> </a:t>
            </a:r>
            <a:r>
              <a:rPr dirty="0" sz="3350" spc="125"/>
              <a:t>are</a:t>
            </a:r>
            <a:r>
              <a:rPr dirty="0" sz="3350" spc="-185"/>
              <a:t> </a:t>
            </a:r>
            <a:r>
              <a:rPr dirty="0" sz="3350" spc="160"/>
              <a:t>unstructured</a:t>
            </a:r>
            <a:r>
              <a:rPr dirty="0" sz="3350" spc="-185"/>
              <a:t> </a:t>
            </a:r>
            <a:r>
              <a:rPr dirty="0" sz="3350" spc="114"/>
              <a:t>and </a:t>
            </a:r>
            <a:r>
              <a:rPr dirty="0" sz="3350" spc="225"/>
              <a:t>difficult</a:t>
            </a:r>
            <a:r>
              <a:rPr dirty="0" sz="3350" spc="-190"/>
              <a:t> </a:t>
            </a:r>
            <a:r>
              <a:rPr dirty="0" sz="3350" spc="140"/>
              <a:t>for</a:t>
            </a:r>
            <a:r>
              <a:rPr dirty="0" sz="3350" spc="-190"/>
              <a:t> </a:t>
            </a:r>
            <a:r>
              <a:rPr dirty="0" sz="3350" spc="180"/>
              <a:t>machines</a:t>
            </a:r>
            <a:r>
              <a:rPr dirty="0" sz="3350" spc="-185"/>
              <a:t> </a:t>
            </a:r>
            <a:r>
              <a:rPr dirty="0" sz="3350" spc="180"/>
              <a:t>to</a:t>
            </a:r>
            <a:r>
              <a:rPr dirty="0" sz="3350" spc="-190"/>
              <a:t> </a:t>
            </a:r>
            <a:r>
              <a:rPr dirty="0" sz="3350" spc="120"/>
              <a:t>understand.</a:t>
            </a:r>
            <a:endParaRPr sz="3350"/>
          </a:p>
          <a:p>
            <a:pPr marL="12700" marR="506095">
              <a:lnSpc>
                <a:spcPct val="117700"/>
              </a:lnSpc>
            </a:pPr>
            <a:r>
              <a:rPr dirty="0" sz="3350" spc="235"/>
              <a:t>As</a:t>
            </a:r>
            <a:r>
              <a:rPr dirty="0" sz="3350" spc="-190"/>
              <a:t> </a:t>
            </a:r>
            <a:r>
              <a:rPr dirty="0" sz="3350" spc="155"/>
              <a:t>a</a:t>
            </a:r>
            <a:r>
              <a:rPr dirty="0" sz="3350" spc="-185"/>
              <a:t> </a:t>
            </a:r>
            <a:r>
              <a:rPr dirty="0" sz="3350" spc="165"/>
              <a:t>result,</a:t>
            </a:r>
            <a:r>
              <a:rPr dirty="0" sz="3350" spc="-185"/>
              <a:t> </a:t>
            </a:r>
            <a:r>
              <a:rPr dirty="0" sz="3350" spc="150"/>
              <a:t>retrieving</a:t>
            </a:r>
            <a:r>
              <a:rPr dirty="0" sz="3350" spc="-190"/>
              <a:t> </a:t>
            </a:r>
            <a:r>
              <a:rPr dirty="0" sz="3350" spc="185"/>
              <a:t>accurate</a:t>
            </a:r>
            <a:r>
              <a:rPr dirty="0" sz="3350" spc="-185"/>
              <a:t> </a:t>
            </a:r>
            <a:r>
              <a:rPr dirty="0" sz="3350" spc="170"/>
              <a:t>information</a:t>
            </a:r>
            <a:r>
              <a:rPr dirty="0" sz="3350" spc="-185"/>
              <a:t> </a:t>
            </a:r>
            <a:r>
              <a:rPr dirty="0" sz="3350" spc="165"/>
              <a:t>from</a:t>
            </a:r>
            <a:r>
              <a:rPr dirty="0" sz="3350" spc="-185"/>
              <a:t> </a:t>
            </a:r>
            <a:r>
              <a:rPr dirty="0" sz="3350" spc="170"/>
              <a:t>large</a:t>
            </a:r>
            <a:r>
              <a:rPr dirty="0" sz="3350" spc="-190"/>
              <a:t> </a:t>
            </a:r>
            <a:r>
              <a:rPr dirty="0" sz="3350" spc="165"/>
              <a:t>document </a:t>
            </a:r>
            <a:r>
              <a:rPr dirty="0" sz="3350" spc="215"/>
              <a:t>collections</a:t>
            </a:r>
            <a:r>
              <a:rPr dirty="0" sz="3350" spc="-180"/>
              <a:t> </a:t>
            </a:r>
            <a:r>
              <a:rPr dirty="0" sz="3350" spc="175"/>
              <a:t>is</a:t>
            </a:r>
            <a:r>
              <a:rPr dirty="0" sz="3350" spc="-175"/>
              <a:t> </a:t>
            </a:r>
            <a:r>
              <a:rPr dirty="0" sz="3350" spc="195"/>
              <a:t>inefficient</a:t>
            </a:r>
            <a:r>
              <a:rPr dirty="0" sz="3350" spc="-180"/>
              <a:t> </a:t>
            </a:r>
            <a:r>
              <a:rPr dirty="0" sz="3350" spc="140"/>
              <a:t>and</a:t>
            </a:r>
            <a:r>
              <a:rPr dirty="0" sz="3350" spc="-175"/>
              <a:t> </a:t>
            </a:r>
            <a:r>
              <a:rPr dirty="0" sz="3350" spc="260"/>
              <a:t>time-</a:t>
            </a:r>
            <a:r>
              <a:rPr dirty="0" sz="3350" spc="140"/>
              <a:t>consuming.</a:t>
            </a:r>
            <a:endParaRPr sz="3350"/>
          </a:p>
          <a:p>
            <a:pPr marL="12700" marR="5080">
              <a:lnSpc>
                <a:spcPct val="117700"/>
              </a:lnSpc>
              <a:spcBef>
                <a:spcPts val="5"/>
              </a:spcBef>
            </a:pPr>
            <a:r>
              <a:rPr dirty="0" sz="3350" spc="125"/>
              <a:t>This</a:t>
            </a:r>
            <a:r>
              <a:rPr dirty="0" sz="3350" spc="-195"/>
              <a:t> </a:t>
            </a:r>
            <a:r>
              <a:rPr dirty="0" sz="3350" spc="145"/>
              <a:t>project</a:t>
            </a:r>
            <a:r>
              <a:rPr dirty="0" sz="3350" spc="-190"/>
              <a:t> </a:t>
            </a:r>
            <a:r>
              <a:rPr dirty="0" sz="3350" spc="160"/>
              <a:t>focuses</a:t>
            </a:r>
            <a:r>
              <a:rPr dirty="0" sz="3350" spc="-190"/>
              <a:t> </a:t>
            </a:r>
            <a:r>
              <a:rPr dirty="0" sz="3350" spc="125"/>
              <a:t>on</a:t>
            </a:r>
            <a:r>
              <a:rPr dirty="0" sz="3350" spc="-190"/>
              <a:t> </a:t>
            </a:r>
            <a:r>
              <a:rPr dirty="0" sz="3350" spc="160"/>
              <a:t>converting</a:t>
            </a:r>
            <a:r>
              <a:rPr dirty="0" sz="3350" spc="-195"/>
              <a:t> </a:t>
            </a:r>
            <a:r>
              <a:rPr dirty="0" sz="3350" spc="145"/>
              <a:t>enterprise</a:t>
            </a:r>
            <a:r>
              <a:rPr dirty="0" sz="3350" spc="-190"/>
              <a:t> </a:t>
            </a:r>
            <a:r>
              <a:rPr dirty="0" sz="3350" spc="204"/>
              <a:t>PDFs</a:t>
            </a:r>
            <a:r>
              <a:rPr dirty="0" sz="3350" spc="-190"/>
              <a:t> </a:t>
            </a:r>
            <a:r>
              <a:rPr dirty="0" sz="3350" spc="180"/>
              <a:t>into</a:t>
            </a:r>
            <a:r>
              <a:rPr dirty="0" sz="3350" spc="-190"/>
              <a:t> </a:t>
            </a:r>
            <a:r>
              <a:rPr dirty="0" sz="3350" spc="150"/>
              <a:t>searchable, </a:t>
            </a:r>
            <a:r>
              <a:rPr dirty="0" sz="3350" spc="160"/>
              <a:t>structured</a:t>
            </a:r>
            <a:r>
              <a:rPr dirty="0" sz="3350" spc="-170"/>
              <a:t> </a:t>
            </a:r>
            <a:r>
              <a:rPr dirty="0" sz="3350" spc="165"/>
              <a:t>knowledge</a:t>
            </a:r>
            <a:r>
              <a:rPr dirty="0" sz="3350" spc="-165"/>
              <a:t> </a:t>
            </a:r>
            <a:r>
              <a:rPr dirty="0" sz="3350" spc="145"/>
              <a:t>using</a:t>
            </a:r>
            <a:r>
              <a:rPr dirty="0" sz="3350" spc="-170"/>
              <a:t> </a:t>
            </a:r>
            <a:r>
              <a:rPr dirty="0" sz="3350" spc="225"/>
              <a:t>RAG.</a:t>
            </a:r>
            <a:endParaRPr sz="3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7371" rIns="0" bIns="0" rtlCol="0" vert="horz">
            <a:spAutoFit/>
          </a:bodyPr>
          <a:lstStyle/>
          <a:p>
            <a:pPr marL="1179830">
              <a:lnSpc>
                <a:spcPct val="100000"/>
              </a:lnSpc>
              <a:spcBef>
                <a:spcPts val="95"/>
              </a:spcBef>
            </a:pPr>
            <a:r>
              <a:rPr dirty="0" sz="8050" spc="-585"/>
              <a:t>PROBLEM</a:t>
            </a:r>
            <a:r>
              <a:rPr dirty="0" sz="8050" spc="-114"/>
              <a:t> </a:t>
            </a:r>
            <a:r>
              <a:rPr dirty="0" sz="8050" spc="-620"/>
              <a:t>STATEMENT</a:t>
            </a:r>
            <a:endParaRPr sz="80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4700" y="3191929"/>
            <a:ext cx="173210" cy="17321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4700" y="3793071"/>
            <a:ext cx="173210" cy="17321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4700" y="4394212"/>
            <a:ext cx="173210" cy="17321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4700" y="4995354"/>
            <a:ext cx="173210" cy="17321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84700" y="5596495"/>
            <a:ext cx="173210" cy="173210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2235" rIns="0" bIns="0" rtlCol="0" vert="horz">
            <a:spAutoFit/>
          </a:bodyPr>
          <a:lstStyle/>
          <a:p>
            <a:pPr marL="743585">
              <a:lnSpc>
                <a:spcPct val="100000"/>
              </a:lnSpc>
              <a:spcBef>
                <a:spcPts val="805"/>
              </a:spcBef>
            </a:pPr>
            <a:r>
              <a:rPr dirty="0" sz="3350" spc="204"/>
              <a:t>PDFs</a:t>
            </a:r>
            <a:r>
              <a:rPr dirty="0" sz="3350" spc="-195"/>
              <a:t> </a:t>
            </a:r>
            <a:r>
              <a:rPr dirty="0" sz="3350" spc="254"/>
              <a:t>lack</a:t>
            </a:r>
            <a:r>
              <a:rPr dirty="0" sz="3350" spc="-195"/>
              <a:t> </a:t>
            </a:r>
            <a:r>
              <a:rPr dirty="0" sz="3350" spc="195"/>
              <a:t>semantic</a:t>
            </a:r>
            <a:r>
              <a:rPr dirty="0" sz="3350" spc="-190"/>
              <a:t> </a:t>
            </a:r>
            <a:r>
              <a:rPr dirty="0" sz="3350" spc="155"/>
              <a:t>structure</a:t>
            </a:r>
            <a:endParaRPr sz="3350"/>
          </a:p>
          <a:p>
            <a:pPr marL="743585" marR="1409700">
              <a:lnSpc>
                <a:spcPct val="117700"/>
              </a:lnSpc>
            </a:pPr>
            <a:r>
              <a:rPr dirty="0" sz="3350" spc="200"/>
              <a:t>Keyword-</a:t>
            </a:r>
            <a:r>
              <a:rPr dirty="0" sz="3350" spc="130"/>
              <a:t>based</a:t>
            </a:r>
            <a:r>
              <a:rPr dirty="0" sz="3350" spc="-204"/>
              <a:t> </a:t>
            </a:r>
            <a:r>
              <a:rPr dirty="0" sz="3350" spc="155"/>
              <a:t>search</a:t>
            </a:r>
            <a:r>
              <a:rPr dirty="0" sz="3350" spc="-190"/>
              <a:t> </a:t>
            </a:r>
            <a:r>
              <a:rPr dirty="0" sz="3350" spc="220"/>
              <a:t>fails</a:t>
            </a:r>
            <a:r>
              <a:rPr dirty="0" sz="3350" spc="-195"/>
              <a:t> </a:t>
            </a:r>
            <a:r>
              <a:rPr dirty="0" sz="3350" spc="180"/>
              <a:t>to</a:t>
            </a:r>
            <a:r>
              <a:rPr dirty="0" sz="3350" spc="-190"/>
              <a:t> </a:t>
            </a:r>
            <a:r>
              <a:rPr dirty="0" sz="3350" spc="145"/>
              <a:t>understand</a:t>
            </a:r>
            <a:r>
              <a:rPr dirty="0" sz="3350" spc="-190"/>
              <a:t> </a:t>
            </a:r>
            <a:r>
              <a:rPr dirty="0" sz="3350" spc="165"/>
              <a:t>context </a:t>
            </a:r>
            <a:r>
              <a:rPr dirty="0" sz="3350" spc="175"/>
              <a:t>Scanned</a:t>
            </a:r>
            <a:r>
              <a:rPr dirty="0" sz="3350" spc="-185"/>
              <a:t> </a:t>
            </a:r>
            <a:r>
              <a:rPr dirty="0" sz="3350" spc="170"/>
              <a:t>documents</a:t>
            </a:r>
            <a:r>
              <a:rPr dirty="0" sz="3350" spc="-185"/>
              <a:t> </a:t>
            </a:r>
            <a:r>
              <a:rPr dirty="0" sz="3350" spc="135"/>
              <a:t>require</a:t>
            </a:r>
            <a:r>
              <a:rPr dirty="0" sz="3350" spc="-180"/>
              <a:t> </a:t>
            </a:r>
            <a:r>
              <a:rPr dirty="0" sz="3350" spc="265"/>
              <a:t>OCR</a:t>
            </a:r>
            <a:endParaRPr sz="3350"/>
          </a:p>
          <a:p>
            <a:pPr marL="743585" marR="2335530">
              <a:lnSpc>
                <a:spcPct val="117700"/>
              </a:lnSpc>
              <a:spcBef>
                <a:spcPts val="5"/>
              </a:spcBef>
            </a:pPr>
            <a:r>
              <a:rPr dirty="0" sz="3350" spc="135"/>
              <a:t>Tables,</a:t>
            </a:r>
            <a:r>
              <a:rPr dirty="0" sz="3350" spc="-195"/>
              <a:t> </a:t>
            </a:r>
            <a:r>
              <a:rPr dirty="0" sz="3350" spc="155"/>
              <a:t>charts,</a:t>
            </a:r>
            <a:r>
              <a:rPr dirty="0" sz="3350" spc="-195"/>
              <a:t> </a:t>
            </a:r>
            <a:r>
              <a:rPr dirty="0" sz="3350" spc="140"/>
              <a:t>and</a:t>
            </a:r>
            <a:r>
              <a:rPr dirty="0" sz="3350" spc="-195"/>
              <a:t> </a:t>
            </a:r>
            <a:r>
              <a:rPr dirty="0" sz="3350" spc="165"/>
              <a:t>images</a:t>
            </a:r>
            <a:r>
              <a:rPr dirty="0" sz="3350" spc="-190"/>
              <a:t> </a:t>
            </a:r>
            <a:r>
              <a:rPr dirty="0" sz="3350" spc="125"/>
              <a:t>are</a:t>
            </a:r>
            <a:r>
              <a:rPr dirty="0" sz="3350" spc="-195"/>
              <a:t> </a:t>
            </a:r>
            <a:r>
              <a:rPr dirty="0" sz="3350" spc="165"/>
              <a:t>not</a:t>
            </a:r>
            <a:r>
              <a:rPr dirty="0" sz="3350" spc="-195"/>
              <a:t> </a:t>
            </a:r>
            <a:r>
              <a:rPr dirty="0" sz="3350" spc="160"/>
              <a:t>searchable </a:t>
            </a:r>
            <a:r>
              <a:rPr dirty="0" sz="3350" spc="235"/>
              <a:t>Multilingual</a:t>
            </a:r>
            <a:r>
              <a:rPr dirty="0" sz="3350" spc="-180"/>
              <a:t> </a:t>
            </a:r>
            <a:r>
              <a:rPr dirty="0" sz="3350" spc="170"/>
              <a:t>documents</a:t>
            </a:r>
            <a:r>
              <a:rPr dirty="0" sz="3350" spc="-175"/>
              <a:t> </a:t>
            </a:r>
            <a:r>
              <a:rPr dirty="0" sz="3350" spc="160"/>
              <a:t>increase</a:t>
            </a:r>
            <a:r>
              <a:rPr dirty="0" sz="3350" spc="-175"/>
              <a:t> </a:t>
            </a:r>
            <a:r>
              <a:rPr dirty="0" sz="3350" spc="185"/>
              <a:t>complexity</a:t>
            </a:r>
            <a:endParaRPr sz="3350"/>
          </a:p>
          <a:p>
            <a:pPr marL="12700" marR="5080" indent="321945">
              <a:lnSpc>
                <a:spcPct val="117700"/>
              </a:lnSpc>
            </a:pPr>
            <a:r>
              <a:rPr dirty="0" sz="3350" spc="110"/>
              <a:t>These</a:t>
            </a:r>
            <a:r>
              <a:rPr dirty="0" sz="3350" spc="-190"/>
              <a:t> </a:t>
            </a:r>
            <a:r>
              <a:rPr dirty="0" sz="3350" spc="145"/>
              <a:t>issues</a:t>
            </a:r>
            <a:r>
              <a:rPr dirty="0" sz="3350" spc="-185"/>
              <a:t> </a:t>
            </a:r>
            <a:r>
              <a:rPr dirty="0" sz="3350" spc="195"/>
              <a:t>lead</a:t>
            </a:r>
            <a:r>
              <a:rPr dirty="0" sz="3350" spc="-190"/>
              <a:t> </a:t>
            </a:r>
            <a:r>
              <a:rPr dirty="0" sz="3350" spc="180"/>
              <a:t>to</a:t>
            </a:r>
            <a:r>
              <a:rPr dirty="0" sz="3350" spc="-185"/>
              <a:t> </a:t>
            </a:r>
            <a:r>
              <a:rPr dirty="0" sz="3350" spc="105"/>
              <a:t>poor</a:t>
            </a:r>
            <a:r>
              <a:rPr dirty="0" sz="3350" spc="-190"/>
              <a:t> </a:t>
            </a:r>
            <a:r>
              <a:rPr dirty="0" sz="3350" spc="170"/>
              <a:t>information</a:t>
            </a:r>
            <a:r>
              <a:rPr dirty="0" sz="3350" spc="-185"/>
              <a:t> </a:t>
            </a:r>
            <a:r>
              <a:rPr dirty="0" sz="3350" spc="175"/>
              <a:t>retrieval</a:t>
            </a:r>
            <a:r>
              <a:rPr dirty="0" sz="3350" spc="-185"/>
              <a:t> </a:t>
            </a:r>
            <a:r>
              <a:rPr dirty="0" sz="3350" spc="140"/>
              <a:t>and</a:t>
            </a:r>
            <a:r>
              <a:rPr dirty="0" sz="3350" spc="-190"/>
              <a:t> </a:t>
            </a:r>
            <a:r>
              <a:rPr dirty="0" sz="3350" spc="135"/>
              <a:t>reduced </a:t>
            </a:r>
            <a:r>
              <a:rPr dirty="0" sz="3350" spc="155"/>
              <a:t>productivity.</a:t>
            </a:r>
            <a:endParaRPr sz="3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7371" rIns="0" bIns="0" rtlCol="0" vert="horz">
            <a:spAutoFit/>
          </a:bodyPr>
          <a:lstStyle/>
          <a:p>
            <a:pPr marL="906780">
              <a:lnSpc>
                <a:spcPct val="100000"/>
              </a:lnSpc>
              <a:spcBef>
                <a:spcPts val="100"/>
              </a:spcBef>
            </a:pPr>
            <a:r>
              <a:rPr dirty="0" spc="-890"/>
              <a:t>PROJECT</a:t>
            </a:r>
            <a:r>
              <a:rPr dirty="0" spc="-130"/>
              <a:t> </a:t>
            </a:r>
            <a:r>
              <a:rPr dirty="0" spc="-1015"/>
              <a:t>OBJECTIVES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6452" y="3534962"/>
            <a:ext cx="173210" cy="17321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86452" y="4136104"/>
            <a:ext cx="173210" cy="17321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6452" y="4737245"/>
            <a:ext cx="173210" cy="17321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86452" y="5338386"/>
            <a:ext cx="173210" cy="17321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86452" y="5939528"/>
            <a:ext cx="173210" cy="17321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86452" y="6540669"/>
            <a:ext cx="173210" cy="17321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878758" y="3261855"/>
            <a:ext cx="10074910" cy="3632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315720">
              <a:lnSpc>
                <a:spcPct val="117700"/>
              </a:lnSpc>
              <a:spcBef>
                <a:spcPts val="95"/>
              </a:spcBef>
            </a:pP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Extract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text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5">
                <a:solidFill>
                  <a:srgbClr val="040D9A"/>
                </a:solidFill>
                <a:latin typeface="Tahoma"/>
                <a:cs typeface="Tahoma"/>
              </a:rPr>
              <a:t>from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204">
                <a:solidFill>
                  <a:srgbClr val="040D9A"/>
                </a:solidFill>
                <a:latin typeface="Tahoma"/>
                <a:cs typeface="Tahoma"/>
              </a:rPr>
              <a:t>digital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0">
                <a:solidFill>
                  <a:srgbClr val="040D9A"/>
                </a:solidFill>
                <a:latin typeface="Tahoma"/>
                <a:cs typeface="Tahoma"/>
              </a:rPr>
              <a:t>and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55">
                <a:solidFill>
                  <a:srgbClr val="040D9A"/>
                </a:solidFill>
                <a:latin typeface="Tahoma"/>
                <a:cs typeface="Tahoma"/>
              </a:rPr>
              <a:t>scanned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5">
                <a:solidFill>
                  <a:srgbClr val="040D9A"/>
                </a:solidFill>
                <a:latin typeface="Tahoma"/>
                <a:cs typeface="Tahoma"/>
              </a:rPr>
              <a:t>PDFs </a:t>
            </a:r>
            <a:r>
              <a:rPr dirty="0" sz="3350" spc="155">
                <a:solidFill>
                  <a:srgbClr val="040D9A"/>
                </a:solidFill>
                <a:latin typeface="Tahoma"/>
                <a:cs typeface="Tahoma"/>
              </a:rPr>
              <a:t>Preprocess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0">
                <a:solidFill>
                  <a:srgbClr val="040D9A"/>
                </a:solidFill>
                <a:latin typeface="Tahoma"/>
                <a:cs typeface="Tahoma"/>
              </a:rPr>
              <a:t>and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215">
                <a:solidFill>
                  <a:srgbClr val="040D9A"/>
                </a:solidFill>
                <a:latin typeface="Tahoma"/>
                <a:cs typeface="Tahoma"/>
              </a:rPr>
              <a:t>clean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5">
                <a:solidFill>
                  <a:srgbClr val="040D9A"/>
                </a:solidFill>
                <a:latin typeface="Tahoma"/>
                <a:cs typeface="Tahoma"/>
              </a:rPr>
              <a:t>extracted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5">
                <a:solidFill>
                  <a:srgbClr val="040D9A"/>
                </a:solidFill>
                <a:latin typeface="Tahoma"/>
                <a:cs typeface="Tahoma"/>
              </a:rPr>
              <a:t>content </a:t>
            </a:r>
            <a:r>
              <a:rPr dirty="0" sz="3350" spc="185">
                <a:solidFill>
                  <a:srgbClr val="040D9A"/>
                </a:solidFill>
                <a:latin typeface="Tahoma"/>
                <a:cs typeface="Tahoma"/>
              </a:rPr>
              <a:t>Segment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0">
                <a:solidFill>
                  <a:srgbClr val="040D9A"/>
                </a:solidFill>
                <a:latin typeface="Tahoma"/>
                <a:cs typeface="Tahoma"/>
              </a:rPr>
              <a:t>documents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into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95">
                <a:solidFill>
                  <a:srgbClr val="040D9A"/>
                </a:solidFill>
                <a:latin typeface="Tahoma"/>
                <a:cs typeface="Tahoma"/>
              </a:rPr>
              <a:t>semantic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5">
                <a:solidFill>
                  <a:srgbClr val="040D9A"/>
                </a:solidFill>
                <a:latin typeface="Tahoma"/>
                <a:cs typeface="Tahoma"/>
              </a:rPr>
              <a:t>chunks</a:t>
            </a:r>
            <a:endParaRPr sz="3350">
              <a:latin typeface="Tahoma"/>
              <a:cs typeface="Tahoma"/>
            </a:endParaRPr>
          </a:p>
          <a:p>
            <a:pPr marL="12700" marR="5080">
              <a:lnSpc>
                <a:spcPct val="117700"/>
              </a:lnSpc>
            </a:pPr>
            <a:r>
              <a:rPr dirty="0" sz="3350" spc="185">
                <a:solidFill>
                  <a:srgbClr val="040D9A"/>
                </a:solidFill>
                <a:latin typeface="Tahoma"/>
                <a:cs typeface="Tahoma"/>
              </a:rPr>
              <a:t>Enable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95">
                <a:solidFill>
                  <a:srgbClr val="040D9A"/>
                </a:solidFill>
                <a:latin typeface="Tahoma"/>
                <a:cs typeface="Tahoma"/>
              </a:rPr>
              <a:t>semantic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55">
                <a:solidFill>
                  <a:srgbClr val="040D9A"/>
                </a:solidFill>
                <a:latin typeface="Tahoma"/>
                <a:cs typeface="Tahoma"/>
              </a:rPr>
              <a:t>search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5">
                <a:solidFill>
                  <a:srgbClr val="040D9A"/>
                </a:solidFill>
                <a:latin typeface="Tahoma"/>
                <a:cs typeface="Tahoma"/>
              </a:rPr>
              <a:t>using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5">
                <a:solidFill>
                  <a:srgbClr val="040D9A"/>
                </a:solidFill>
                <a:latin typeface="Tahoma"/>
                <a:cs typeface="Tahoma"/>
              </a:rPr>
              <a:t>vector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35">
                <a:solidFill>
                  <a:srgbClr val="040D9A"/>
                </a:solidFill>
                <a:latin typeface="Tahoma"/>
                <a:cs typeface="Tahoma"/>
              </a:rPr>
              <a:t>embeddings </a:t>
            </a:r>
            <a:r>
              <a:rPr dirty="0" sz="3350" spc="170">
                <a:solidFill>
                  <a:srgbClr val="040D9A"/>
                </a:solidFill>
                <a:latin typeface="Tahoma"/>
                <a:cs typeface="Tahoma"/>
              </a:rPr>
              <a:t>Generate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5">
                <a:solidFill>
                  <a:srgbClr val="040D9A"/>
                </a:solidFill>
                <a:latin typeface="Tahoma"/>
                <a:cs typeface="Tahoma"/>
              </a:rPr>
              <a:t>accurate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35">
                <a:solidFill>
                  <a:srgbClr val="040D9A"/>
                </a:solidFill>
                <a:latin typeface="Tahoma"/>
                <a:cs typeface="Tahoma"/>
              </a:rPr>
              <a:t>answers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5">
                <a:solidFill>
                  <a:srgbClr val="040D9A"/>
                </a:solidFill>
                <a:latin typeface="Tahoma"/>
                <a:cs typeface="Tahoma"/>
              </a:rPr>
              <a:t>using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300">
                <a:solidFill>
                  <a:srgbClr val="040D9A"/>
                </a:solidFill>
                <a:latin typeface="Tahoma"/>
                <a:cs typeface="Tahoma"/>
              </a:rPr>
              <a:t>RAG</a:t>
            </a:r>
            <a:endParaRPr sz="3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160">
                <a:solidFill>
                  <a:srgbClr val="040D9A"/>
                </a:solidFill>
                <a:latin typeface="Tahoma"/>
                <a:cs typeface="Tahoma"/>
              </a:rPr>
              <a:t>Support</a:t>
            </a:r>
            <a:r>
              <a:rPr dirty="0" sz="33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229">
                <a:solidFill>
                  <a:srgbClr val="040D9A"/>
                </a:solidFill>
                <a:latin typeface="Tahoma"/>
                <a:cs typeface="Tahoma"/>
              </a:rPr>
              <a:t>multilingual</a:t>
            </a:r>
            <a:r>
              <a:rPr dirty="0" sz="33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30">
                <a:solidFill>
                  <a:srgbClr val="040D9A"/>
                </a:solidFill>
                <a:latin typeface="Tahoma"/>
                <a:cs typeface="Tahoma"/>
              </a:rPr>
              <a:t>queries</a:t>
            </a:r>
            <a:endParaRPr sz="3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7371" rIns="0" bIns="0" rtlCol="0" vert="horz">
            <a:spAutoFit/>
          </a:bodyPr>
          <a:lstStyle/>
          <a:p>
            <a:pPr marL="454025">
              <a:lnSpc>
                <a:spcPct val="100000"/>
              </a:lnSpc>
              <a:spcBef>
                <a:spcPts val="100"/>
              </a:spcBef>
            </a:pPr>
            <a:r>
              <a:rPr dirty="0" spc="-800"/>
              <a:t>PROPOSED</a:t>
            </a:r>
            <a:r>
              <a:rPr dirty="0" spc="-125"/>
              <a:t> </a:t>
            </a:r>
            <a:r>
              <a:rPr dirty="0" spc="-950"/>
              <a:t>SOLUTION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526" y="3534962"/>
            <a:ext cx="173210" cy="17321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526" y="4737245"/>
            <a:ext cx="173210" cy="17321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5526" y="5338386"/>
            <a:ext cx="173210" cy="17321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5526" y="5939528"/>
            <a:ext cx="173210" cy="17321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95526" y="6540669"/>
            <a:ext cx="173210" cy="17321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95526" y="7141810"/>
            <a:ext cx="173210" cy="17321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5526" y="7742952"/>
            <a:ext cx="173210" cy="17321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487832" y="3261855"/>
            <a:ext cx="12089765" cy="4834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39420">
              <a:lnSpc>
                <a:spcPct val="117700"/>
              </a:lnSpc>
              <a:spcBef>
                <a:spcPts val="95"/>
              </a:spcBef>
            </a:pPr>
            <a:r>
              <a:rPr dirty="0" sz="3350" spc="95">
                <a:solidFill>
                  <a:srgbClr val="040D9A"/>
                </a:solidFill>
                <a:latin typeface="Tahoma"/>
                <a:cs typeface="Tahoma"/>
              </a:rPr>
              <a:t>The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system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0">
                <a:solidFill>
                  <a:srgbClr val="040D9A"/>
                </a:solidFill>
                <a:latin typeface="Tahoma"/>
                <a:cs typeface="Tahoma"/>
              </a:rPr>
              <a:t>combines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5">
                <a:solidFill>
                  <a:srgbClr val="040D9A"/>
                </a:solidFill>
                <a:latin typeface="Tahoma"/>
                <a:cs typeface="Tahoma"/>
              </a:rPr>
              <a:t>document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5">
                <a:solidFill>
                  <a:srgbClr val="040D9A"/>
                </a:solidFill>
                <a:latin typeface="Tahoma"/>
                <a:cs typeface="Tahoma"/>
              </a:rPr>
              <a:t>retrieval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95">
                <a:solidFill>
                  <a:srgbClr val="040D9A"/>
                </a:solidFill>
                <a:latin typeface="Tahoma"/>
                <a:cs typeface="Tahoma"/>
              </a:rPr>
              <a:t>with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5">
                <a:solidFill>
                  <a:srgbClr val="040D9A"/>
                </a:solidFill>
                <a:latin typeface="Tahoma"/>
                <a:cs typeface="Tahoma"/>
              </a:rPr>
              <a:t>controlled </a:t>
            </a:r>
            <a:r>
              <a:rPr dirty="0" sz="3350" spc="165">
                <a:solidFill>
                  <a:srgbClr val="040D9A"/>
                </a:solidFill>
                <a:latin typeface="Tahoma"/>
                <a:cs typeface="Tahoma"/>
              </a:rPr>
              <a:t>language</a:t>
            </a:r>
            <a:r>
              <a:rPr dirty="0" sz="33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25">
                <a:solidFill>
                  <a:srgbClr val="040D9A"/>
                </a:solidFill>
                <a:latin typeface="Tahoma"/>
                <a:cs typeface="Tahoma"/>
              </a:rPr>
              <a:t>generation.</a:t>
            </a:r>
            <a:endParaRPr sz="3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3350" spc="290">
                <a:solidFill>
                  <a:srgbClr val="040D9A"/>
                </a:solidFill>
                <a:latin typeface="Tahoma"/>
                <a:cs typeface="Tahoma"/>
              </a:rPr>
              <a:t>OCR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0">
                <a:solidFill>
                  <a:srgbClr val="040D9A"/>
                </a:solidFill>
                <a:latin typeface="Tahoma"/>
                <a:cs typeface="Tahoma"/>
              </a:rPr>
              <a:t>extracts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text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5">
                <a:solidFill>
                  <a:srgbClr val="040D9A"/>
                </a:solidFill>
                <a:latin typeface="Tahoma"/>
                <a:cs typeface="Tahoma"/>
              </a:rPr>
              <a:t>from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5">
                <a:solidFill>
                  <a:srgbClr val="040D9A"/>
                </a:solidFill>
                <a:latin typeface="Tahoma"/>
                <a:cs typeface="Tahoma"/>
              </a:rPr>
              <a:t>PDFs</a:t>
            </a:r>
            <a:endParaRPr sz="3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120">
                <a:solidFill>
                  <a:srgbClr val="040D9A"/>
                </a:solidFill>
                <a:latin typeface="Tahoma"/>
                <a:cs typeface="Tahoma"/>
              </a:rPr>
              <a:t>Text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5">
                <a:solidFill>
                  <a:srgbClr val="040D9A"/>
                </a:solidFill>
                <a:latin typeface="Tahoma"/>
                <a:cs typeface="Tahoma"/>
              </a:rPr>
              <a:t>is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90">
                <a:solidFill>
                  <a:srgbClr val="040D9A"/>
                </a:solidFill>
                <a:latin typeface="Tahoma"/>
                <a:cs typeface="Tahoma"/>
              </a:rPr>
              <a:t>cleaned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0">
                <a:solidFill>
                  <a:srgbClr val="040D9A"/>
                </a:solidFill>
                <a:latin typeface="Tahoma"/>
                <a:cs typeface="Tahoma"/>
              </a:rPr>
              <a:t>and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220">
                <a:solidFill>
                  <a:srgbClr val="040D9A"/>
                </a:solidFill>
                <a:latin typeface="Tahoma"/>
                <a:cs typeface="Tahoma"/>
              </a:rPr>
              <a:t>semantically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0">
                <a:solidFill>
                  <a:srgbClr val="040D9A"/>
                </a:solidFill>
                <a:latin typeface="Tahoma"/>
                <a:cs typeface="Tahoma"/>
              </a:rPr>
              <a:t>chunked</a:t>
            </a:r>
            <a:endParaRPr sz="3350">
              <a:latin typeface="Tahoma"/>
              <a:cs typeface="Tahoma"/>
            </a:endParaRPr>
          </a:p>
          <a:p>
            <a:pPr marL="12700" marR="1404620">
              <a:lnSpc>
                <a:spcPct val="117700"/>
              </a:lnSpc>
            </a:pPr>
            <a:r>
              <a:rPr dirty="0" sz="3350" spc="190">
                <a:solidFill>
                  <a:srgbClr val="040D9A"/>
                </a:solidFill>
                <a:latin typeface="Tahoma"/>
                <a:cs typeface="Tahoma"/>
              </a:rPr>
              <a:t>Vector</a:t>
            </a:r>
            <a:r>
              <a:rPr dirty="0" sz="3350" spc="-18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5">
                <a:solidFill>
                  <a:srgbClr val="040D9A"/>
                </a:solidFill>
                <a:latin typeface="Tahoma"/>
                <a:cs typeface="Tahoma"/>
              </a:rPr>
              <a:t>embeddings</a:t>
            </a:r>
            <a:r>
              <a:rPr dirty="0" sz="3350" spc="-17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35">
                <a:solidFill>
                  <a:srgbClr val="040D9A"/>
                </a:solidFill>
                <a:latin typeface="Tahoma"/>
                <a:cs typeface="Tahoma"/>
              </a:rPr>
              <a:t>represent</a:t>
            </a:r>
            <a:r>
              <a:rPr dirty="0" sz="3350" spc="-18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5">
                <a:solidFill>
                  <a:srgbClr val="040D9A"/>
                </a:solidFill>
                <a:latin typeface="Tahoma"/>
                <a:cs typeface="Tahoma"/>
              </a:rPr>
              <a:t>document</a:t>
            </a:r>
            <a:r>
              <a:rPr dirty="0" sz="3350" spc="-17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50">
                <a:solidFill>
                  <a:srgbClr val="040D9A"/>
                </a:solidFill>
                <a:latin typeface="Tahoma"/>
                <a:cs typeface="Tahoma"/>
              </a:rPr>
              <a:t>meaning </a:t>
            </a:r>
            <a:r>
              <a:rPr dirty="0" sz="3350" spc="204">
                <a:solidFill>
                  <a:srgbClr val="040D9A"/>
                </a:solidFill>
                <a:latin typeface="Tahoma"/>
                <a:cs typeface="Tahoma"/>
              </a:rPr>
              <a:t>Relevant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5">
                <a:solidFill>
                  <a:srgbClr val="040D9A"/>
                </a:solidFill>
                <a:latin typeface="Tahoma"/>
                <a:cs typeface="Tahoma"/>
              </a:rPr>
              <a:t>content</a:t>
            </a:r>
            <a:r>
              <a:rPr dirty="0" sz="3350" spc="-18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5">
                <a:solidFill>
                  <a:srgbClr val="040D9A"/>
                </a:solidFill>
                <a:latin typeface="Tahoma"/>
                <a:cs typeface="Tahoma"/>
              </a:rPr>
              <a:t>is</a:t>
            </a:r>
            <a:r>
              <a:rPr dirty="0" sz="3350" spc="-18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5">
                <a:solidFill>
                  <a:srgbClr val="040D9A"/>
                </a:solidFill>
                <a:latin typeface="Tahoma"/>
                <a:cs typeface="Tahoma"/>
              </a:rPr>
              <a:t>retrieved</a:t>
            </a:r>
            <a:r>
              <a:rPr dirty="0" sz="3350" spc="-18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5">
                <a:solidFill>
                  <a:srgbClr val="040D9A"/>
                </a:solidFill>
                <a:latin typeface="Tahoma"/>
                <a:cs typeface="Tahoma"/>
              </a:rPr>
              <a:t>using</a:t>
            </a:r>
            <a:r>
              <a:rPr dirty="0" sz="3350" spc="-18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204">
                <a:solidFill>
                  <a:srgbClr val="040D9A"/>
                </a:solidFill>
                <a:latin typeface="Tahoma"/>
                <a:cs typeface="Tahoma"/>
              </a:rPr>
              <a:t>similarity</a:t>
            </a:r>
            <a:r>
              <a:rPr dirty="0" sz="3350" spc="-18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5">
                <a:solidFill>
                  <a:srgbClr val="040D9A"/>
                </a:solidFill>
                <a:latin typeface="Tahoma"/>
                <a:cs typeface="Tahoma"/>
              </a:rPr>
              <a:t>search</a:t>
            </a:r>
            <a:endParaRPr sz="3350">
              <a:latin typeface="Tahoma"/>
              <a:cs typeface="Tahoma"/>
            </a:endParaRPr>
          </a:p>
          <a:p>
            <a:pPr marL="12700" marR="5080">
              <a:lnSpc>
                <a:spcPct val="117700"/>
              </a:lnSpc>
              <a:spcBef>
                <a:spcPts val="5"/>
              </a:spcBef>
            </a:pPr>
            <a:r>
              <a:rPr dirty="0" sz="3350" spc="325">
                <a:solidFill>
                  <a:srgbClr val="040D9A"/>
                </a:solidFill>
                <a:latin typeface="Tahoma"/>
                <a:cs typeface="Tahoma"/>
              </a:rPr>
              <a:t>RAG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0">
                <a:solidFill>
                  <a:srgbClr val="040D9A"/>
                </a:solidFill>
                <a:latin typeface="Tahoma"/>
                <a:cs typeface="Tahoma"/>
              </a:rPr>
              <a:t>generates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25">
                <a:solidFill>
                  <a:srgbClr val="040D9A"/>
                </a:solidFill>
                <a:latin typeface="Tahoma"/>
                <a:cs typeface="Tahoma"/>
              </a:rPr>
              <a:t>responses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20">
                <a:solidFill>
                  <a:srgbClr val="040D9A"/>
                </a:solidFill>
                <a:latin typeface="Tahoma"/>
                <a:cs typeface="Tahoma"/>
              </a:rPr>
              <a:t>grounded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in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5">
                <a:solidFill>
                  <a:srgbClr val="040D9A"/>
                </a:solidFill>
                <a:latin typeface="Tahoma"/>
                <a:cs typeface="Tahoma"/>
              </a:rPr>
              <a:t>retrieved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0">
                <a:solidFill>
                  <a:srgbClr val="040D9A"/>
                </a:solidFill>
                <a:latin typeface="Tahoma"/>
                <a:cs typeface="Tahoma"/>
              </a:rPr>
              <a:t>documents </a:t>
            </a:r>
            <a:r>
              <a:rPr dirty="0" sz="3350" spc="125">
                <a:solidFill>
                  <a:srgbClr val="040D9A"/>
                </a:solidFill>
                <a:latin typeface="Tahoma"/>
                <a:cs typeface="Tahoma"/>
              </a:rPr>
              <a:t>This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30">
                <a:solidFill>
                  <a:srgbClr val="040D9A"/>
                </a:solidFill>
                <a:latin typeface="Tahoma"/>
                <a:cs typeface="Tahoma"/>
              </a:rPr>
              <a:t>ensures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90">
                <a:solidFill>
                  <a:srgbClr val="040D9A"/>
                </a:solidFill>
                <a:latin typeface="Tahoma"/>
                <a:cs typeface="Tahoma"/>
              </a:rPr>
              <a:t>accuracy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0">
                <a:solidFill>
                  <a:srgbClr val="040D9A"/>
                </a:solidFill>
                <a:latin typeface="Tahoma"/>
                <a:cs typeface="Tahoma"/>
              </a:rPr>
              <a:t>and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minimizes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hallucination.</a:t>
            </a:r>
            <a:endParaRPr sz="3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4700" y="2930340"/>
            <a:ext cx="173210" cy="17321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4700" y="3531481"/>
            <a:ext cx="173210" cy="17321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4700" y="4132623"/>
            <a:ext cx="173210" cy="17321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4700" y="4733764"/>
            <a:ext cx="173210" cy="17321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4700" y="5334905"/>
            <a:ext cx="173210" cy="17321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84700" y="5936047"/>
            <a:ext cx="173210" cy="17321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84700" y="6537188"/>
            <a:ext cx="173210" cy="17321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84700" y="7138330"/>
            <a:ext cx="173210" cy="17321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545957" y="2657233"/>
            <a:ext cx="9125585" cy="663829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743585">
              <a:lnSpc>
                <a:spcPct val="100000"/>
              </a:lnSpc>
              <a:spcBef>
                <a:spcPts val="805"/>
              </a:spcBef>
            </a:pPr>
            <a:r>
              <a:rPr dirty="0" sz="3350" spc="95">
                <a:solidFill>
                  <a:srgbClr val="040D9A"/>
                </a:solidFill>
                <a:latin typeface="Tahoma"/>
                <a:cs typeface="Tahoma"/>
              </a:rPr>
              <a:t>The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system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0">
                <a:solidFill>
                  <a:srgbClr val="040D9A"/>
                </a:solidFill>
                <a:latin typeface="Tahoma"/>
                <a:cs typeface="Tahoma"/>
              </a:rPr>
              <a:t>consists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05">
                <a:solidFill>
                  <a:srgbClr val="040D9A"/>
                </a:solidFill>
                <a:latin typeface="Tahoma"/>
                <a:cs typeface="Tahoma"/>
              </a:rPr>
              <a:t>of:</a:t>
            </a:r>
            <a:endParaRPr sz="3350">
              <a:latin typeface="Tahoma"/>
              <a:cs typeface="Tahoma"/>
            </a:endParaRPr>
          </a:p>
          <a:p>
            <a:pPr marL="743585">
              <a:lnSpc>
                <a:spcPct val="100000"/>
              </a:lnSpc>
              <a:spcBef>
                <a:spcPts val="715"/>
              </a:spcBef>
            </a:pPr>
            <a:r>
              <a:rPr dirty="0" sz="3350" spc="235">
                <a:solidFill>
                  <a:srgbClr val="040D9A"/>
                </a:solidFill>
                <a:latin typeface="Tahoma"/>
                <a:cs typeface="Tahoma"/>
              </a:rPr>
              <a:t>PDF</a:t>
            </a:r>
            <a:r>
              <a:rPr dirty="0" sz="33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95">
                <a:solidFill>
                  <a:srgbClr val="040D9A"/>
                </a:solidFill>
                <a:latin typeface="Tahoma"/>
                <a:cs typeface="Tahoma"/>
              </a:rPr>
              <a:t>Ingestion</a:t>
            </a:r>
            <a:endParaRPr sz="3350">
              <a:latin typeface="Tahoma"/>
              <a:cs typeface="Tahoma"/>
            </a:endParaRPr>
          </a:p>
          <a:p>
            <a:pPr marL="743585">
              <a:lnSpc>
                <a:spcPct val="100000"/>
              </a:lnSpc>
              <a:spcBef>
                <a:spcPts val="710"/>
              </a:spcBef>
            </a:pPr>
            <a:r>
              <a:rPr dirty="0" sz="3350" spc="290">
                <a:solidFill>
                  <a:srgbClr val="040D9A"/>
                </a:solidFill>
                <a:latin typeface="Tahoma"/>
                <a:cs typeface="Tahoma"/>
              </a:rPr>
              <a:t>OCR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0">
                <a:solidFill>
                  <a:srgbClr val="040D9A"/>
                </a:solidFill>
                <a:latin typeface="Tahoma"/>
                <a:cs typeface="Tahoma"/>
              </a:rPr>
              <a:t>and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20">
                <a:solidFill>
                  <a:srgbClr val="040D9A"/>
                </a:solidFill>
                <a:latin typeface="Tahoma"/>
                <a:cs typeface="Tahoma"/>
              </a:rPr>
              <a:t>Text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5">
                <a:solidFill>
                  <a:srgbClr val="040D9A"/>
                </a:solidFill>
                <a:latin typeface="Tahoma"/>
                <a:cs typeface="Tahoma"/>
              </a:rPr>
              <a:t>Extraction</a:t>
            </a:r>
            <a:endParaRPr sz="3350">
              <a:latin typeface="Tahoma"/>
              <a:cs typeface="Tahoma"/>
            </a:endParaRPr>
          </a:p>
          <a:p>
            <a:pPr marL="743585" marR="1572895">
              <a:lnSpc>
                <a:spcPct val="117700"/>
              </a:lnSpc>
              <a:spcBef>
                <a:spcPts val="5"/>
              </a:spcBef>
            </a:pPr>
            <a:r>
              <a:rPr dirty="0" sz="3350" spc="120">
                <a:solidFill>
                  <a:srgbClr val="040D9A"/>
                </a:solidFill>
                <a:latin typeface="Tahoma"/>
                <a:cs typeface="Tahoma"/>
              </a:rPr>
              <a:t>Text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55">
                <a:solidFill>
                  <a:srgbClr val="040D9A"/>
                </a:solidFill>
                <a:latin typeface="Tahoma"/>
                <a:cs typeface="Tahoma"/>
              </a:rPr>
              <a:t>Preprocessing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0">
                <a:solidFill>
                  <a:srgbClr val="040D9A"/>
                </a:solidFill>
                <a:latin typeface="Tahoma"/>
                <a:cs typeface="Tahoma"/>
              </a:rPr>
              <a:t>and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5">
                <a:solidFill>
                  <a:srgbClr val="040D9A"/>
                </a:solidFill>
                <a:latin typeface="Tahoma"/>
                <a:cs typeface="Tahoma"/>
              </a:rPr>
              <a:t>Chunking </a:t>
            </a:r>
            <a:r>
              <a:rPr dirty="0" sz="3350" spc="155">
                <a:solidFill>
                  <a:srgbClr val="040D9A"/>
                </a:solidFill>
                <a:latin typeface="Tahoma"/>
                <a:cs typeface="Tahoma"/>
              </a:rPr>
              <a:t>Embedding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55">
                <a:solidFill>
                  <a:srgbClr val="040D9A"/>
                </a:solidFill>
                <a:latin typeface="Tahoma"/>
                <a:cs typeface="Tahoma"/>
              </a:rPr>
              <a:t>Generation</a:t>
            </a:r>
            <a:endParaRPr sz="3350">
              <a:latin typeface="Tahoma"/>
              <a:cs typeface="Tahoma"/>
            </a:endParaRPr>
          </a:p>
          <a:p>
            <a:pPr marL="743585">
              <a:lnSpc>
                <a:spcPct val="100000"/>
              </a:lnSpc>
              <a:spcBef>
                <a:spcPts val="710"/>
              </a:spcBef>
            </a:pPr>
            <a:r>
              <a:rPr dirty="0" sz="3350" spc="190">
                <a:solidFill>
                  <a:srgbClr val="040D9A"/>
                </a:solidFill>
                <a:latin typeface="Tahoma"/>
                <a:cs typeface="Tahoma"/>
              </a:rPr>
              <a:t>Vector</a:t>
            </a:r>
            <a:r>
              <a:rPr dirty="0" sz="33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55">
                <a:solidFill>
                  <a:srgbClr val="040D9A"/>
                </a:solidFill>
                <a:latin typeface="Tahoma"/>
                <a:cs typeface="Tahoma"/>
              </a:rPr>
              <a:t>Database</a:t>
            </a:r>
            <a:endParaRPr sz="3350">
              <a:latin typeface="Tahoma"/>
              <a:cs typeface="Tahoma"/>
            </a:endParaRPr>
          </a:p>
          <a:p>
            <a:pPr marL="743585" marR="5080">
              <a:lnSpc>
                <a:spcPct val="117700"/>
              </a:lnSpc>
              <a:spcBef>
                <a:spcPts val="5"/>
              </a:spcBef>
            </a:pPr>
            <a:r>
              <a:rPr dirty="0" sz="3350" spc="229">
                <a:solidFill>
                  <a:srgbClr val="040D9A"/>
                </a:solidFill>
                <a:latin typeface="Tahoma"/>
                <a:cs typeface="Tahoma"/>
              </a:rPr>
              <a:t>Retrieval-</a:t>
            </a: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Augmented</a:t>
            </a:r>
            <a:r>
              <a:rPr dirty="0" sz="3350" spc="-17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5">
                <a:solidFill>
                  <a:srgbClr val="040D9A"/>
                </a:solidFill>
                <a:latin typeface="Tahoma"/>
                <a:cs typeface="Tahoma"/>
              </a:rPr>
              <a:t>Generation</a:t>
            </a:r>
            <a:r>
              <a:rPr dirty="0" sz="3350" spc="-17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5">
                <a:solidFill>
                  <a:srgbClr val="040D9A"/>
                </a:solidFill>
                <a:latin typeface="Tahoma"/>
                <a:cs typeface="Tahoma"/>
              </a:rPr>
              <a:t>Engine </a:t>
            </a:r>
            <a:r>
              <a:rPr dirty="0" sz="3350" spc="170">
                <a:solidFill>
                  <a:srgbClr val="040D9A"/>
                </a:solidFill>
                <a:latin typeface="Tahoma"/>
                <a:cs typeface="Tahoma"/>
              </a:rPr>
              <a:t>User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215">
                <a:solidFill>
                  <a:srgbClr val="040D9A"/>
                </a:solidFill>
                <a:latin typeface="Tahoma"/>
                <a:cs typeface="Tahoma"/>
              </a:rPr>
              <a:t>Interface</a:t>
            </a:r>
            <a:endParaRPr sz="3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3350">
              <a:latin typeface="Tahoma"/>
              <a:cs typeface="Tahoma"/>
            </a:endParaRPr>
          </a:p>
          <a:p>
            <a:pPr marL="12700" marR="21590">
              <a:lnSpc>
                <a:spcPct val="117700"/>
              </a:lnSpc>
            </a:pPr>
            <a:r>
              <a:rPr dirty="0" sz="3350" spc="125">
                <a:solidFill>
                  <a:srgbClr val="040D9A"/>
                </a:solidFill>
                <a:latin typeface="Tahoma"/>
                <a:cs typeface="Tahoma"/>
              </a:rPr>
              <a:t>This</a:t>
            </a:r>
            <a:r>
              <a:rPr dirty="0" sz="3350" spc="-18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5">
                <a:solidFill>
                  <a:srgbClr val="040D9A"/>
                </a:solidFill>
                <a:latin typeface="Tahoma"/>
                <a:cs typeface="Tahoma"/>
              </a:rPr>
              <a:t>modular</a:t>
            </a:r>
            <a:r>
              <a:rPr dirty="0" sz="3350" spc="-18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0">
                <a:solidFill>
                  <a:srgbClr val="040D9A"/>
                </a:solidFill>
                <a:latin typeface="Tahoma"/>
                <a:cs typeface="Tahoma"/>
              </a:rPr>
              <a:t>design</a:t>
            </a:r>
            <a:r>
              <a:rPr dirty="0" sz="3350" spc="-17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35">
                <a:solidFill>
                  <a:srgbClr val="040D9A"/>
                </a:solidFill>
                <a:latin typeface="Tahoma"/>
                <a:cs typeface="Tahoma"/>
              </a:rPr>
              <a:t>supports</a:t>
            </a:r>
            <a:r>
              <a:rPr dirty="0" sz="3350" spc="-18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220">
                <a:solidFill>
                  <a:srgbClr val="040D9A"/>
                </a:solidFill>
                <a:latin typeface="Tahoma"/>
                <a:cs typeface="Tahoma"/>
              </a:rPr>
              <a:t>scalability</a:t>
            </a:r>
            <a:r>
              <a:rPr dirty="0" sz="3350" spc="-17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14">
                <a:solidFill>
                  <a:srgbClr val="040D9A"/>
                </a:solidFill>
                <a:latin typeface="Tahoma"/>
                <a:cs typeface="Tahoma"/>
              </a:rPr>
              <a:t>and </a:t>
            </a:r>
            <a:r>
              <a:rPr dirty="0" sz="3350" spc="145">
                <a:solidFill>
                  <a:srgbClr val="040D9A"/>
                </a:solidFill>
                <a:latin typeface="Tahoma"/>
                <a:cs typeface="Tahoma"/>
              </a:rPr>
              <a:t>enterprise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85">
                <a:solidFill>
                  <a:srgbClr val="040D9A"/>
                </a:solidFill>
                <a:latin typeface="Tahoma"/>
                <a:cs typeface="Tahoma"/>
              </a:rPr>
              <a:t>use.</a:t>
            </a:r>
            <a:endParaRPr sz="335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283378" y="3374193"/>
            <a:ext cx="3947834" cy="565784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886379" y="1245812"/>
            <a:ext cx="14515465" cy="14814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10"/>
              <a:t>SYSTEM</a:t>
            </a:r>
            <a:r>
              <a:rPr dirty="0" spc="-135"/>
              <a:t> </a:t>
            </a:r>
            <a:r>
              <a:rPr dirty="0" spc="-869"/>
              <a:t>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80073" y="3015582"/>
            <a:ext cx="8783955" cy="483489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450215" indent="-437515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450215" algn="l"/>
              </a:tabLst>
            </a:pPr>
            <a:r>
              <a:rPr dirty="0" sz="3350" spc="229">
                <a:solidFill>
                  <a:srgbClr val="040D9A"/>
                </a:solidFill>
                <a:latin typeface="Tahoma"/>
                <a:cs typeface="Tahoma"/>
              </a:rPr>
              <a:t>Ingest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5">
                <a:solidFill>
                  <a:srgbClr val="040D9A"/>
                </a:solidFill>
                <a:latin typeface="Tahoma"/>
                <a:cs typeface="Tahoma"/>
              </a:rPr>
              <a:t>enterprise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5">
                <a:solidFill>
                  <a:srgbClr val="040D9A"/>
                </a:solidFill>
                <a:latin typeface="Tahoma"/>
                <a:cs typeface="Tahoma"/>
              </a:rPr>
              <a:t>PDFs</a:t>
            </a:r>
            <a:endParaRPr sz="3350">
              <a:latin typeface="Tahoma"/>
              <a:cs typeface="Tahoma"/>
            </a:endParaRPr>
          </a:p>
          <a:p>
            <a:pPr marL="450215" indent="-437515">
              <a:lnSpc>
                <a:spcPct val="100000"/>
              </a:lnSpc>
              <a:spcBef>
                <a:spcPts val="715"/>
              </a:spcBef>
              <a:buAutoNum type="arabicPeriod"/>
              <a:tabLst>
                <a:tab pos="450215" algn="l"/>
              </a:tabLst>
            </a:pPr>
            <a:r>
              <a:rPr dirty="0" sz="3350" spc="225">
                <a:solidFill>
                  <a:srgbClr val="040D9A"/>
                </a:solidFill>
                <a:latin typeface="Tahoma"/>
                <a:cs typeface="Tahoma"/>
              </a:rPr>
              <a:t>Apply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290">
                <a:solidFill>
                  <a:srgbClr val="040D9A"/>
                </a:solidFill>
                <a:latin typeface="Tahoma"/>
                <a:cs typeface="Tahoma"/>
              </a:rPr>
              <a:t>OCR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to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55">
                <a:solidFill>
                  <a:srgbClr val="040D9A"/>
                </a:solidFill>
                <a:latin typeface="Tahoma"/>
                <a:cs typeface="Tahoma"/>
              </a:rPr>
              <a:t>scanned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0">
                <a:solidFill>
                  <a:srgbClr val="040D9A"/>
                </a:solidFill>
                <a:latin typeface="Tahoma"/>
                <a:cs typeface="Tahoma"/>
              </a:rPr>
              <a:t>documents</a:t>
            </a:r>
            <a:endParaRPr sz="3350">
              <a:latin typeface="Tahoma"/>
              <a:cs typeface="Tahoma"/>
            </a:endParaRPr>
          </a:p>
          <a:p>
            <a:pPr marL="450215" indent="-437515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50215" algn="l"/>
              </a:tabLst>
            </a:pPr>
            <a:r>
              <a:rPr dirty="0" sz="3350" spc="235">
                <a:solidFill>
                  <a:srgbClr val="040D9A"/>
                </a:solidFill>
                <a:latin typeface="Tahoma"/>
                <a:cs typeface="Tahoma"/>
              </a:rPr>
              <a:t>Clean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0">
                <a:solidFill>
                  <a:srgbClr val="040D9A"/>
                </a:solidFill>
                <a:latin typeface="Tahoma"/>
                <a:cs typeface="Tahoma"/>
              </a:rPr>
              <a:t>and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75">
                <a:solidFill>
                  <a:srgbClr val="040D9A"/>
                </a:solidFill>
                <a:latin typeface="Tahoma"/>
                <a:cs typeface="Tahoma"/>
              </a:rPr>
              <a:t>normalize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0">
                <a:solidFill>
                  <a:srgbClr val="040D9A"/>
                </a:solidFill>
                <a:latin typeface="Tahoma"/>
                <a:cs typeface="Tahoma"/>
              </a:rPr>
              <a:t>text</a:t>
            </a:r>
            <a:endParaRPr sz="3350">
              <a:latin typeface="Tahoma"/>
              <a:cs typeface="Tahoma"/>
            </a:endParaRPr>
          </a:p>
          <a:p>
            <a:pPr marL="450215" indent="-437515">
              <a:lnSpc>
                <a:spcPct val="100000"/>
              </a:lnSpc>
              <a:spcBef>
                <a:spcPts val="715"/>
              </a:spcBef>
              <a:buAutoNum type="arabicPeriod"/>
              <a:tabLst>
                <a:tab pos="450215" algn="l"/>
              </a:tabLst>
            </a:pPr>
            <a:r>
              <a:rPr dirty="0" sz="3350" spc="250">
                <a:solidFill>
                  <a:srgbClr val="040D9A"/>
                </a:solidFill>
                <a:latin typeface="Tahoma"/>
                <a:cs typeface="Tahoma"/>
              </a:rPr>
              <a:t>Split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5">
                <a:solidFill>
                  <a:srgbClr val="040D9A"/>
                </a:solidFill>
                <a:latin typeface="Tahoma"/>
                <a:cs typeface="Tahoma"/>
              </a:rPr>
              <a:t>content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into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95">
                <a:solidFill>
                  <a:srgbClr val="040D9A"/>
                </a:solidFill>
                <a:latin typeface="Tahoma"/>
                <a:cs typeface="Tahoma"/>
              </a:rPr>
              <a:t>semantic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5">
                <a:solidFill>
                  <a:srgbClr val="040D9A"/>
                </a:solidFill>
                <a:latin typeface="Tahoma"/>
                <a:cs typeface="Tahoma"/>
              </a:rPr>
              <a:t>chunks</a:t>
            </a:r>
            <a:endParaRPr sz="3350">
              <a:latin typeface="Tahoma"/>
              <a:cs typeface="Tahoma"/>
            </a:endParaRPr>
          </a:p>
          <a:p>
            <a:pPr marL="450215" indent="-437515">
              <a:lnSpc>
                <a:spcPct val="100000"/>
              </a:lnSpc>
              <a:spcBef>
                <a:spcPts val="715"/>
              </a:spcBef>
              <a:buAutoNum type="arabicPeriod"/>
              <a:tabLst>
                <a:tab pos="450215" algn="l"/>
              </a:tabLst>
            </a:pPr>
            <a:r>
              <a:rPr dirty="0" sz="3350" spc="170">
                <a:solidFill>
                  <a:srgbClr val="040D9A"/>
                </a:solidFill>
                <a:latin typeface="Tahoma"/>
                <a:cs typeface="Tahoma"/>
              </a:rPr>
              <a:t>Generate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0">
                <a:solidFill>
                  <a:srgbClr val="040D9A"/>
                </a:solidFill>
                <a:latin typeface="Tahoma"/>
                <a:cs typeface="Tahoma"/>
              </a:rPr>
              <a:t>and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40">
                <a:solidFill>
                  <a:srgbClr val="040D9A"/>
                </a:solidFill>
                <a:latin typeface="Tahoma"/>
                <a:cs typeface="Tahoma"/>
              </a:rPr>
              <a:t>store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35">
                <a:solidFill>
                  <a:srgbClr val="040D9A"/>
                </a:solidFill>
                <a:latin typeface="Tahoma"/>
                <a:cs typeface="Tahoma"/>
              </a:rPr>
              <a:t>embeddings</a:t>
            </a:r>
            <a:endParaRPr sz="3350">
              <a:latin typeface="Tahoma"/>
              <a:cs typeface="Tahoma"/>
            </a:endParaRPr>
          </a:p>
          <a:p>
            <a:pPr marL="450215" indent="-437515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50215" algn="l"/>
              </a:tabLst>
            </a:pPr>
            <a:r>
              <a:rPr dirty="0" sz="3350" spc="170">
                <a:solidFill>
                  <a:srgbClr val="040D9A"/>
                </a:solidFill>
                <a:latin typeface="Tahoma"/>
                <a:cs typeface="Tahoma"/>
              </a:rPr>
              <a:t>Process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25">
                <a:solidFill>
                  <a:srgbClr val="040D9A"/>
                </a:solidFill>
                <a:latin typeface="Tahoma"/>
                <a:cs typeface="Tahoma"/>
              </a:rPr>
              <a:t>user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30">
                <a:solidFill>
                  <a:srgbClr val="040D9A"/>
                </a:solidFill>
                <a:latin typeface="Tahoma"/>
                <a:cs typeface="Tahoma"/>
              </a:rPr>
              <a:t>queries</a:t>
            </a:r>
            <a:endParaRPr sz="3350">
              <a:latin typeface="Tahoma"/>
              <a:cs typeface="Tahoma"/>
            </a:endParaRPr>
          </a:p>
          <a:p>
            <a:pPr marL="450215" indent="-437515">
              <a:lnSpc>
                <a:spcPct val="100000"/>
              </a:lnSpc>
              <a:spcBef>
                <a:spcPts val="715"/>
              </a:spcBef>
              <a:buAutoNum type="arabicPeriod"/>
              <a:tabLst>
                <a:tab pos="450215" algn="l"/>
              </a:tabLst>
            </a:pP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Retrieve</a:t>
            </a:r>
            <a:r>
              <a:rPr dirty="0" sz="33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80">
                <a:solidFill>
                  <a:srgbClr val="040D9A"/>
                </a:solidFill>
                <a:latin typeface="Tahoma"/>
                <a:cs typeface="Tahoma"/>
              </a:rPr>
              <a:t>relevant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65">
                <a:solidFill>
                  <a:srgbClr val="040D9A"/>
                </a:solidFill>
                <a:latin typeface="Tahoma"/>
                <a:cs typeface="Tahoma"/>
              </a:rPr>
              <a:t>chunks</a:t>
            </a:r>
            <a:endParaRPr sz="3350">
              <a:latin typeface="Tahoma"/>
              <a:cs typeface="Tahoma"/>
            </a:endParaRPr>
          </a:p>
          <a:p>
            <a:pPr marL="450215" indent="-437515">
              <a:lnSpc>
                <a:spcPct val="100000"/>
              </a:lnSpc>
              <a:spcBef>
                <a:spcPts val="715"/>
              </a:spcBef>
              <a:buAutoNum type="arabicPeriod"/>
              <a:tabLst>
                <a:tab pos="450215" algn="l"/>
              </a:tabLst>
            </a:pPr>
            <a:r>
              <a:rPr dirty="0" sz="3350" spc="170">
                <a:solidFill>
                  <a:srgbClr val="040D9A"/>
                </a:solidFill>
                <a:latin typeface="Tahoma"/>
                <a:cs typeface="Tahoma"/>
              </a:rPr>
              <a:t>Generate</a:t>
            </a:r>
            <a:r>
              <a:rPr dirty="0" sz="33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20">
                <a:solidFill>
                  <a:srgbClr val="040D9A"/>
                </a:solidFill>
                <a:latin typeface="Tahoma"/>
                <a:cs typeface="Tahoma"/>
              </a:rPr>
              <a:t>grounded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25">
                <a:solidFill>
                  <a:srgbClr val="040D9A"/>
                </a:solidFill>
                <a:latin typeface="Tahoma"/>
                <a:cs typeface="Tahoma"/>
              </a:rPr>
              <a:t>responses</a:t>
            </a:r>
            <a:r>
              <a:rPr dirty="0" sz="3350" spc="-19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150">
                <a:solidFill>
                  <a:srgbClr val="040D9A"/>
                </a:solidFill>
                <a:latin typeface="Tahoma"/>
                <a:cs typeface="Tahoma"/>
              </a:rPr>
              <a:t>using</a:t>
            </a:r>
            <a:r>
              <a:rPr dirty="0" sz="3350" spc="-19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350" spc="300">
                <a:solidFill>
                  <a:srgbClr val="040D9A"/>
                </a:solidFill>
                <a:latin typeface="Tahoma"/>
                <a:cs typeface="Tahoma"/>
              </a:rPr>
              <a:t>RAG</a:t>
            </a:r>
            <a:endParaRPr sz="335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67931" y="2885024"/>
            <a:ext cx="3352799" cy="55625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7371" rIns="0" bIns="0" rtlCol="0" vert="horz">
            <a:spAutoFit/>
          </a:bodyPr>
          <a:lstStyle/>
          <a:p>
            <a:pPr marL="2137410">
              <a:lnSpc>
                <a:spcPct val="100000"/>
              </a:lnSpc>
              <a:spcBef>
                <a:spcPts val="100"/>
              </a:spcBef>
            </a:pPr>
            <a:r>
              <a:rPr dirty="0" spc="-765"/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1842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5"/>
              </a:spcBef>
            </a:pPr>
            <a:r>
              <a:rPr dirty="0" sz="6450" spc="-700"/>
              <a:t>BUSINESS</a:t>
            </a:r>
            <a:r>
              <a:rPr dirty="0" sz="6450" spc="-85"/>
              <a:t> </a:t>
            </a:r>
            <a:r>
              <a:rPr dirty="0" sz="6450" spc="-725"/>
              <a:t>&amp;</a:t>
            </a:r>
            <a:r>
              <a:rPr dirty="0" sz="6450" spc="-75"/>
              <a:t> </a:t>
            </a:r>
            <a:r>
              <a:rPr dirty="0" sz="6450" spc="-620"/>
              <a:t>ENGINEERING</a:t>
            </a:r>
            <a:r>
              <a:rPr dirty="0" sz="6450" spc="-75"/>
              <a:t> </a:t>
            </a:r>
            <a:r>
              <a:rPr dirty="0" sz="6450" spc="-610"/>
              <a:t>IMPACT</a:t>
            </a:r>
            <a:endParaRPr sz="64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4700" y="3320714"/>
            <a:ext cx="173210" cy="17321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4700" y="3921855"/>
            <a:ext cx="173210" cy="17321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4700" y="4522996"/>
            <a:ext cx="173210" cy="17321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4700" y="5124138"/>
            <a:ext cx="173210" cy="173210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0849" rIns="0" bIns="0" rtlCol="0" vert="horz">
            <a:spAutoFit/>
          </a:bodyPr>
          <a:lstStyle/>
          <a:p>
            <a:pPr marL="743585" marR="4686935">
              <a:lnSpc>
                <a:spcPct val="117700"/>
              </a:lnSpc>
              <a:spcBef>
                <a:spcPts val="95"/>
              </a:spcBef>
            </a:pPr>
            <a:r>
              <a:rPr dirty="0" sz="3350" spc="150"/>
              <a:t>Faster</a:t>
            </a:r>
            <a:r>
              <a:rPr dirty="0" sz="3350" spc="-190"/>
              <a:t> </a:t>
            </a:r>
            <a:r>
              <a:rPr dirty="0" sz="3350" spc="180"/>
              <a:t>access</a:t>
            </a:r>
            <a:r>
              <a:rPr dirty="0" sz="3350" spc="-190"/>
              <a:t> </a:t>
            </a:r>
            <a:r>
              <a:rPr dirty="0" sz="3350" spc="180"/>
              <a:t>to</a:t>
            </a:r>
            <a:r>
              <a:rPr dirty="0" sz="3350" spc="-190"/>
              <a:t> </a:t>
            </a:r>
            <a:r>
              <a:rPr dirty="0" sz="3350" spc="145"/>
              <a:t>enterprise</a:t>
            </a:r>
            <a:r>
              <a:rPr dirty="0" sz="3350" spc="-190"/>
              <a:t> </a:t>
            </a:r>
            <a:r>
              <a:rPr dirty="0" sz="3350" spc="155"/>
              <a:t>knowledge </a:t>
            </a:r>
            <a:r>
              <a:rPr dirty="0" sz="3350" spc="180"/>
              <a:t>Reduced</a:t>
            </a:r>
            <a:r>
              <a:rPr dirty="0" sz="3350" spc="-185"/>
              <a:t> </a:t>
            </a:r>
            <a:r>
              <a:rPr dirty="0" sz="3350" spc="200"/>
              <a:t>manual</a:t>
            </a:r>
            <a:r>
              <a:rPr dirty="0" sz="3350" spc="-180"/>
              <a:t> </a:t>
            </a:r>
            <a:r>
              <a:rPr dirty="0" sz="3350" spc="175"/>
              <a:t>document</a:t>
            </a:r>
            <a:r>
              <a:rPr dirty="0" sz="3350" spc="-185"/>
              <a:t> </a:t>
            </a:r>
            <a:r>
              <a:rPr dirty="0" sz="3350" spc="145"/>
              <a:t>search </a:t>
            </a:r>
            <a:r>
              <a:rPr dirty="0" sz="3350" spc="195"/>
              <a:t>Improved</a:t>
            </a:r>
            <a:r>
              <a:rPr dirty="0" sz="3350" spc="-170"/>
              <a:t> </a:t>
            </a:r>
            <a:r>
              <a:rPr dirty="0" sz="3350" spc="200"/>
              <a:t>decision-</a:t>
            </a:r>
            <a:r>
              <a:rPr dirty="0" sz="3350" spc="170"/>
              <a:t>making</a:t>
            </a:r>
            <a:endParaRPr sz="3350"/>
          </a:p>
          <a:p>
            <a:pPr marL="743585" marR="5080">
              <a:lnSpc>
                <a:spcPct val="117700"/>
              </a:lnSpc>
            </a:pPr>
            <a:r>
              <a:rPr dirty="0" sz="3350" spc="225"/>
              <a:t>Applicable</a:t>
            </a:r>
            <a:r>
              <a:rPr dirty="0" sz="3350" spc="-200"/>
              <a:t> </a:t>
            </a:r>
            <a:r>
              <a:rPr dirty="0" sz="3350" spc="145"/>
              <a:t>across</a:t>
            </a:r>
            <a:r>
              <a:rPr dirty="0" sz="3350" spc="-200"/>
              <a:t> </a:t>
            </a:r>
            <a:r>
              <a:rPr dirty="0" sz="3350" spc="200"/>
              <a:t>HR,</a:t>
            </a:r>
            <a:r>
              <a:rPr dirty="0" sz="3350" spc="-195"/>
              <a:t> </a:t>
            </a:r>
            <a:r>
              <a:rPr dirty="0" sz="3350" spc="190"/>
              <a:t>compliance,</a:t>
            </a:r>
            <a:r>
              <a:rPr dirty="0" sz="3350" spc="-200"/>
              <a:t> </a:t>
            </a:r>
            <a:r>
              <a:rPr dirty="0" sz="3350" spc="135"/>
              <a:t>engineering,</a:t>
            </a:r>
            <a:r>
              <a:rPr dirty="0" sz="3350" spc="-195"/>
              <a:t> </a:t>
            </a:r>
            <a:r>
              <a:rPr dirty="0" sz="3350" spc="140"/>
              <a:t>and</a:t>
            </a:r>
            <a:r>
              <a:rPr dirty="0" sz="3350" spc="-200"/>
              <a:t> </a:t>
            </a:r>
            <a:r>
              <a:rPr dirty="0" sz="3350" spc="135"/>
              <a:t>research </a:t>
            </a:r>
            <a:r>
              <a:rPr dirty="0" sz="3350" spc="175"/>
              <a:t>teams</a:t>
            </a:r>
            <a:endParaRPr sz="33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278" rIns="0" bIns="0" rtlCol="0" vert="horz">
            <a:spAutoFit/>
          </a:bodyPr>
          <a:lstStyle/>
          <a:p>
            <a:pPr marL="706120">
              <a:lnSpc>
                <a:spcPct val="100000"/>
              </a:lnSpc>
              <a:spcBef>
                <a:spcPts val="100"/>
              </a:spcBef>
            </a:pPr>
            <a:r>
              <a:rPr dirty="0" spc="-790"/>
              <a:t>RELEVANCE</a:t>
            </a:r>
            <a:r>
              <a:rPr dirty="0" spc="-125"/>
              <a:t> </a:t>
            </a:r>
            <a:r>
              <a:rPr dirty="0" spc="-730"/>
              <a:t>TO</a:t>
            </a:r>
            <a:r>
              <a:rPr dirty="0" spc="-130"/>
              <a:t> </a:t>
            </a:r>
            <a:r>
              <a:rPr dirty="0" spc="-975"/>
              <a:t>INTEL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1977" y="3423465"/>
            <a:ext cx="180975" cy="1809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4335" y="6376644"/>
            <a:ext cx="180975" cy="1809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4335" y="4824234"/>
            <a:ext cx="180975" cy="1809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4335" y="5600439"/>
            <a:ext cx="180975" cy="18097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32620" rIns="0" bIns="0" rtlCol="0" vert="horz">
            <a:spAutoFit/>
          </a:bodyPr>
          <a:lstStyle/>
          <a:p>
            <a:pPr marL="942975" marR="1421130">
              <a:lnSpc>
                <a:spcPct val="116199"/>
              </a:lnSpc>
              <a:spcBef>
                <a:spcPts val="95"/>
              </a:spcBef>
            </a:pPr>
            <a:r>
              <a:rPr dirty="0" spc="145"/>
              <a:t>Addresses</a:t>
            </a:r>
            <a:r>
              <a:rPr dirty="0" spc="-204"/>
              <a:t> </a:t>
            </a:r>
            <a:r>
              <a:rPr dirty="0" spc="225"/>
              <a:t>large-</a:t>
            </a:r>
            <a:r>
              <a:rPr dirty="0" spc="220"/>
              <a:t>scale</a:t>
            </a:r>
            <a:r>
              <a:rPr dirty="0" spc="-200"/>
              <a:t> </a:t>
            </a:r>
            <a:r>
              <a:rPr dirty="0" spc="150"/>
              <a:t>enterprise</a:t>
            </a:r>
            <a:r>
              <a:rPr dirty="0" spc="-204"/>
              <a:t> </a:t>
            </a:r>
            <a:r>
              <a:rPr dirty="0" spc="170"/>
              <a:t>documentation </a:t>
            </a:r>
            <a:r>
              <a:rPr dirty="0" spc="195"/>
              <a:t>challenges</a:t>
            </a:r>
          </a:p>
          <a:p>
            <a:pPr marL="965200">
              <a:lnSpc>
                <a:spcPct val="100000"/>
              </a:lnSpc>
              <a:spcBef>
                <a:spcPts val="1820"/>
              </a:spcBef>
            </a:pPr>
            <a:r>
              <a:rPr dirty="0" spc="170"/>
              <a:t>Demonstrates</a:t>
            </a:r>
            <a:r>
              <a:rPr dirty="0" spc="-204"/>
              <a:t> </a:t>
            </a:r>
            <a:r>
              <a:rPr dirty="0" spc="220"/>
              <a:t>end-</a:t>
            </a:r>
            <a:r>
              <a:rPr dirty="0" spc="285"/>
              <a:t>to-</a:t>
            </a:r>
            <a:r>
              <a:rPr dirty="0" spc="135"/>
              <a:t>end</a:t>
            </a:r>
            <a:r>
              <a:rPr dirty="0" spc="-204"/>
              <a:t> </a:t>
            </a:r>
            <a:r>
              <a:rPr dirty="0" spc="175"/>
              <a:t>system</a:t>
            </a:r>
            <a:r>
              <a:rPr dirty="0" spc="-200"/>
              <a:t> </a:t>
            </a:r>
            <a:r>
              <a:rPr dirty="0" spc="130"/>
              <a:t>design</a:t>
            </a:r>
          </a:p>
          <a:p>
            <a:pPr marL="965200" marR="5080">
              <a:lnSpc>
                <a:spcPts val="6110"/>
              </a:lnSpc>
              <a:spcBef>
                <a:spcPts val="315"/>
              </a:spcBef>
            </a:pPr>
            <a:r>
              <a:rPr dirty="0" spc="215"/>
              <a:t>Relevant</a:t>
            </a:r>
            <a:r>
              <a:rPr dirty="0" spc="-204"/>
              <a:t> </a:t>
            </a:r>
            <a:r>
              <a:rPr dirty="0" spc="190"/>
              <a:t>to</a:t>
            </a:r>
            <a:r>
              <a:rPr dirty="0" spc="-204"/>
              <a:t> </a:t>
            </a:r>
            <a:r>
              <a:rPr dirty="0" spc="254"/>
              <a:t>AI/ML,</a:t>
            </a:r>
            <a:r>
              <a:rPr dirty="0" spc="-204"/>
              <a:t> </a:t>
            </a:r>
            <a:r>
              <a:rPr dirty="0" spc="165"/>
              <a:t>Data,</a:t>
            </a:r>
            <a:r>
              <a:rPr dirty="0" spc="-204"/>
              <a:t> </a:t>
            </a:r>
            <a:r>
              <a:rPr dirty="0" spc="160"/>
              <a:t>Software,</a:t>
            </a:r>
            <a:r>
              <a:rPr dirty="0" spc="-200"/>
              <a:t> </a:t>
            </a:r>
            <a:r>
              <a:rPr dirty="0" spc="140"/>
              <a:t>and</a:t>
            </a:r>
            <a:r>
              <a:rPr dirty="0" spc="-204"/>
              <a:t> </a:t>
            </a:r>
            <a:r>
              <a:rPr dirty="0" spc="180"/>
              <a:t>Research</a:t>
            </a:r>
            <a:r>
              <a:rPr dirty="0" spc="-204"/>
              <a:t> </a:t>
            </a:r>
            <a:r>
              <a:rPr dirty="0" spc="160"/>
              <a:t>roles </a:t>
            </a:r>
            <a:r>
              <a:rPr dirty="0" spc="215"/>
              <a:t>Aligns</a:t>
            </a:r>
            <a:r>
              <a:rPr dirty="0" spc="-204"/>
              <a:t> </a:t>
            </a:r>
            <a:r>
              <a:rPr dirty="0" spc="195"/>
              <a:t>with</a:t>
            </a:r>
            <a:r>
              <a:rPr dirty="0" spc="-200"/>
              <a:t> </a:t>
            </a:r>
            <a:r>
              <a:rPr dirty="0" spc="204"/>
              <a:t>reliable</a:t>
            </a:r>
            <a:r>
              <a:rPr dirty="0" spc="-204"/>
              <a:t> </a:t>
            </a:r>
            <a:r>
              <a:rPr dirty="0" spc="140"/>
              <a:t>and</a:t>
            </a:r>
            <a:r>
              <a:rPr dirty="0" spc="-200"/>
              <a:t> </a:t>
            </a:r>
            <a:r>
              <a:rPr dirty="0" spc="155"/>
              <a:t>responsible</a:t>
            </a:r>
            <a:r>
              <a:rPr dirty="0" spc="-204"/>
              <a:t> </a:t>
            </a:r>
            <a:r>
              <a:rPr dirty="0" spc="484"/>
              <a:t>AI</a:t>
            </a:r>
            <a:r>
              <a:rPr dirty="0" spc="-200"/>
              <a:t> </a:t>
            </a:r>
            <a:r>
              <a:rPr dirty="0" spc="175"/>
              <a:t>principles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2221" y="1948501"/>
            <a:ext cx="8083550" cy="14814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25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32415" y="3910591"/>
            <a:ext cx="12665710" cy="3797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16199"/>
              </a:lnSpc>
              <a:spcBef>
                <a:spcPts val="95"/>
              </a:spcBef>
            </a:pPr>
            <a:r>
              <a:rPr dirty="0" sz="3550" spc="125">
                <a:solidFill>
                  <a:srgbClr val="040D9A"/>
                </a:solidFill>
                <a:latin typeface="Tahoma"/>
                <a:cs typeface="Tahoma"/>
              </a:rPr>
              <a:t>This</a:t>
            </a:r>
            <a:r>
              <a:rPr dirty="0" sz="3550" spc="-215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50">
                <a:solidFill>
                  <a:srgbClr val="040D9A"/>
                </a:solidFill>
                <a:latin typeface="Tahoma"/>
                <a:cs typeface="Tahoma"/>
              </a:rPr>
              <a:t>project</a:t>
            </a:r>
            <a:r>
              <a:rPr dirty="0" sz="3550" spc="-21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60">
                <a:solidFill>
                  <a:srgbClr val="040D9A"/>
                </a:solidFill>
                <a:latin typeface="Tahoma"/>
                <a:cs typeface="Tahoma"/>
              </a:rPr>
              <a:t>demonstrates</a:t>
            </a:r>
            <a:r>
              <a:rPr dirty="0" sz="3550" spc="-21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65">
                <a:solidFill>
                  <a:srgbClr val="040D9A"/>
                </a:solidFill>
                <a:latin typeface="Tahoma"/>
                <a:cs typeface="Tahoma"/>
              </a:rPr>
              <a:t>a</a:t>
            </a:r>
            <a:r>
              <a:rPr dirty="0" sz="3550" spc="-21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220">
                <a:solidFill>
                  <a:srgbClr val="040D9A"/>
                </a:solidFill>
                <a:latin typeface="Tahoma"/>
                <a:cs typeface="Tahoma"/>
              </a:rPr>
              <a:t>practical</a:t>
            </a:r>
            <a:r>
              <a:rPr dirty="0" sz="3550" spc="-21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50">
                <a:solidFill>
                  <a:srgbClr val="040D9A"/>
                </a:solidFill>
                <a:latin typeface="Tahoma"/>
                <a:cs typeface="Tahoma"/>
              </a:rPr>
              <a:t>enterprise</a:t>
            </a:r>
            <a:r>
              <a:rPr dirty="0" sz="3550" spc="-21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484">
                <a:solidFill>
                  <a:srgbClr val="040D9A"/>
                </a:solidFill>
                <a:latin typeface="Tahoma"/>
                <a:cs typeface="Tahoma"/>
              </a:rPr>
              <a:t>AI</a:t>
            </a:r>
            <a:r>
              <a:rPr dirty="0" sz="3550" spc="-21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65">
                <a:solidFill>
                  <a:srgbClr val="040D9A"/>
                </a:solidFill>
                <a:latin typeface="Tahoma"/>
                <a:cs typeface="Tahoma"/>
              </a:rPr>
              <a:t>system </a:t>
            </a:r>
            <a:r>
              <a:rPr dirty="0" sz="3550" spc="150">
                <a:solidFill>
                  <a:srgbClr val="040D9A"/>
                </a:solidFill>
                <a:latin typeface="Tahoma"/>
                <a:cs typeface="Tahoma"/>
              </a:rPr>
              <a:t>for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60">
                <a:solidFill>
                  <a:srgbClr val="040D9A"/>
                </a:solidFill>
                <a:latin typeface="Tahoma"/>
                <a:cs typeface="Tahoma"/>
              </a:rPr>
              <a:t>transforming</a:t>
            </a:r>
            <a:r>
              <a:rPr dirty="0" sz="35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204">
                <a:solidFill>
                  <a:srgbClr val="040D9A"/>
                </a:solidFill>
                <a:latin typeface="Tahoma"/>
                <a:cs typeface="Tahoma"/>
              </a:rPr>
              <a:t>PDFs</a:t>
            </a:r>
            <a:r>
              <a:rPr dirty="0" sz="35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85">
                <a:solidFill>
                  <a:srgbClr val="040D9A"/>
                </a:solidFill>
                <a:latin typeface="Tahoma"/>
                <a:cs typeface="Tahoma"/>
              </a:rPr>
              <a:t>into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75">
                <a:solidFill>
                  <a:srgbClr val="040D9A"/>
                </a:solidFill>
                <a:latin typeface="Tahoma"/>
                <a:cs typeface="Tahoma"/>
              </a:rPr>
              <a:t>searchable</a:t>
            </a:r>
            <a:r>
              <a:rPr dirty="0" sz="35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40">
                <a:solidFill>
                  <a:srgbClr val="040D9A"/>
                </a:solidFill>
                <a:latin typeface="Tahoma"/>
                <a:cs typeface="Tahoma"/>
              </a:rPr>
              <a:t>knowledge.</a:t>
            </a:r>
            <a:endParaRPr sz="3550">
              <a:latin typeface="Tahoma"/>
              <a:cs typeface="Tahoma"/>
            </a:endParaRPr>
          </a:p>
          <a:p>
            <a:pPr algn="ctr" marL="151130" marR="143510" indent="113030">
              <a:lnSpc>
                <a:spcPct val="116199"/>
              </a:lnSpc>
            </a:pPr>
            <a:r>
              <a:rPr dirty="0" sz="3550" spc="270">
                <a:solidFill>
                  <a:srgbClr val="040D9A"/>
                </a:solidFill>
                <a:latin typeface="Tahoma"/>
                <a:cs typeface="Tahoma"/>
              </a:rPr>
              <a:t>By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75">
                <a:solidFill>
                  <a:srgbClr val="040D9A"/>
                </a:solidFill>
                <a:latin typeface="Tahoma"/>
                <a:cs typeface="Tahoma"/>
              </a:rPr>
              <a:t>combining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225">
                <a:solidFill>
                  <a:srgbClr val="040D9A"/>
                </a:solidFill>
                <a:latin typeface="Tahoma"/>
                <a:cs typeface="Tahoma"/>
              </a:rPr>
              <a:t>OCR,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95">
                <a:solidFill>
                  <a:srgbClr val="040D9A"/>
                </a:solidFill>
                <a:latin typeface="Tahoma"/>
                <a:cs typeface="Tahoma"/>
              </a:rPr>
              <a:t>semantic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40">
                <a:solidFill>
                  <a:srgbClr val="040D9A"/>
                </a:solidFill>
                <a:latin typeface="Tahoma"/>
                <a:cs typeface="Tahoma"/>
              </a:rPr>
              <a:t>search,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40">
                <a:solidFill>
                  <a:srgbClr val="040D9A"/>
                </a:solidFill>
                <a:latin typeface="Tahoma"/>
                <a:cs typeface="Tahoma"/>
              </a:rPr>
              <a:t>and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250">
                <a:solidFill>
                  <a:srgbClr val="040D9A"/>
                </a:solidFill>
                <a:latin typeface="Tahoma"/>
                <a:cs typeface="Tahoma"/>
              </a:rPr>
              <a:t>RAG,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215">
                <a:solidFill>
                  <a:srgbClr val="040D9A"/>
                </a:solidFill>
                <a:latin typeface="Tahoma"/>
                <a:cs typeface="Tahoma"/>
              </a:rPr>
              <a:t>it </a:t>
            </a:r>
            <a:r>
              <a:rPr dirty="0" sz="3550" spc="155">
                <a:solidFill>
                  <a:srgbClr val="040D9A"/>
                </a:solidFill>
                <a:latin typeface="Tahoma"/>
                <a:cs typeface="Tahoma"/>
              </a:rPr>
              <a:t>overcomes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90">
                <a:solidFill>
                  <a:srgbClr val="040D9A"/>
                </a:solidFill>
                <a:latin typeface="Tahoma"/>
                <a:cs typeface="Tahoma"/>
              </a:rPr>
              <a:t>the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210">
                <a:solidFill>
                  <a:srgbClr val="040D9A"/>
                </a:solidFill>
                <a:latin typeface="Tahoma"/>
                <a:cs typeface="Tahoma"/>
              </a:rPr>
              <a:t>limitations</a:t>
            </a:r>
            <a:r>
              <a:rPr dirty="0" sz="35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75">
                <a:solidFill>
                  <a:srgbClr val="040D9A"/>
                </a:solidFill>
                <a:latin typeface="Tahoma"/>
                <a:cs typeface="Tahoma"/>
              </a:rPr>
              <a:t>of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95">
                <a:solidFill>
                  <a:srgbClr val="040D9A"/>
                </a:solidFill>
                <a:latin typeface="Tahoma"/>
                <a:cs typeface="Tahoma"/>
              </a:rPr>
              <a:t>traditional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80">
                <a:solidFill>
                  <a:srgbClr val="040D9A"/>
                </a:solidFill>
                <a:latin typeface="Tahoma"/>
                <a:cs typeface="Tahoma"/>
              </a:rPr>
              <a:t>document</a:t>
            </a:r>
            <a:r>
              <a:rPr dirty="0" sz="35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50">
                <a:solidFill>
                  <a:srgbClr val="040D9A"/>
                </a:solidFill>
                <a:latin typeface="Tahoma"/>
                <a:cs typeface="Tahoma"/>
              </a:rPr>
              <a:t>search </a:t>
            </a:r>
            <a:r>
              <a:rPr dirty="0" sz="3550" spc="140">
                <a:solidFill>
                  <a:srgbClr val="040D9A"/>
                </a:solidFill>
                <a:latin typeface="Tahoma"/>
                <a:cs typeface="Tahoma"/>
              </a:rPr>
              <a:t>and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70">
                <a:solidFill>
                  <a:srgbClr val="040D9A"/>
                </a:solidFill>
                <a:latin typeface="Tahoma"/>
                <a:cs typeface="Tahoma"/>
              </a:rPr>
              <a:t>delivers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75">
                <a:solidFill>
                  <a:srgbClr val="040D9A"/>
                </a:solidFill>
                <a:latin typeface="Tahoma"/>
                <a:cs typeface="Tahoma"/>
              </a:rPr>
              <a:t>accurate,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200">
                <a:solidFill>
                  <a:srgbClr val="040D9A"/>
                </a:solidFill>
                <a:latin typeface="Tahoma"/>
                <a:cs typeface="Tahoma"/>
              </a:rPr>
              <a:t>scalable,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40">
                <a:solidFill>
                  <a:srgbClr val="040D9A"/>
                </a:solidFill>
                <a:latin typeface="Tahoma"/>
                <a:cs typeface="Tahoma"/>
              </a:rPr>
              <a:t>and</a:t>
            </a:r>
            <a:r>
              <a:rPr dirty="0" sz="3550" spc="-204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204">
                <a:solidFill>
                  <a:srgbClr val="040D9A"/>
                </a:solidFill>
                <a:latin typeface="Tahoma"/>
                <a:cs typeface="Tahoma"/>
              </a:rPr>
              <a:t>reliable</a:t>
            </a:r>
            <a:r>
              <a:rPr dirty="0" sz="3550" spc="-200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3550" spc="165">
                <a:solidFill>
                  <a:srgbClr val="040D9A"/>
                </a:solidFill>
                <a:latin typeface="Tahoma"/>
                <a:cs typeface="Tahoma"/>
              </a:rPr>
              <a:t>information </a:t>
            </a:r>
            <a:r>
              <a:rPr dirty="0" sz="3550" spc="155">
                <a:solidFill>
                  <a:srgbClr val="040D9A"/>
                </a:solidFill>
                <a:latin typeface="Tahoma"/>
                <a:cs typeface="Tahoma"/>
              </a:rPr>
              <a:t>retrieval.</a:t>
            </a:r>
            <a:endParaRPr sz="3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9818" y="4100804"/>
            <a:ext cx="9548495" cy="191833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400" spc="-869"/>
              <a:t>THANK</a:t>
            </a:r>
            <a:r>
              <a:rPr dirty="0" sz="12400" spc="-170"/>
              <a:t> </a:t>
            </a:r>
            <a:r>
              <a:rPr dirty="0" sz="12400" spc="-1195"/>
              <a:t>YOU</a:t>
            </a:r>
            <a:endParaRPr sz="1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Rounak Kumar Singh</dc:creator>
  <cp:keywords>DAG9d0LRh_w,BAG9dpLI5do,0</cp:keywords>
  <dc:title>Blue Professional Geometric Presentation</dc:title>
  <dcterms:created xsi:type="dcterms:W3CDTF">2026-01-05T14:14:32Z</dcterms:created>
  <dcterms:modified xsi:type="dcterms:W3CDTF">2026-01-05T14:14:32Z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2026-01-05T00:00:00Z</vt:filetime>
  </property>
  <property fmtid="{D5CDD505-2E9C-101B-9397-08002B2CF9AE}" pid="3" name="Creator">
    <vt:lpwstr>Canva</vt:lpwstr>
  </property>
  <property fmtid="{D5CDD505-2E9C-101B-9397-08002B2CF9AE}" pid="4" name="LastSaved">
    <vt:filetime>2026-01-05T00:00:00Z</vt:filetime>
  </property>
  <property fmtid="{D5CDD505-2E9C-101B-9397-08002B2CF9AE}" pid="5" name="Producer">
    <vt:lpwstr>Canva</vt:lpwstr>
  </property>
</Properties>
</file>